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Lst>
  <p:notesMasterIdLst>
    <p:notesMasterId r:id="rId45"/>
  </p:notesMasterIdLst>
  <p:sldIdLst>
    <p:sldId id="262" r:id="rId5"/>
    <p:sldId id="322" r:id="rId6"/>
    <p:sldId id="324" r:id="rId7"/>
    <p:sldId id="263" r:id="rId8"/>
    <p:sldId id="325" r:id="rId9"/>
    <p:sldId id="326" r:id="rId10"/>
    <p:sldId id="327" r:id="rId11"/>
    <p:sldId id="338" r:id="rId12"/>
    <p:sldId id="264" r:id="rId13"/>
    <p:sldId id="265" r:id="rId14"/>
    <p:sldId id="266" r:id="rId15"/>
    <p:sldId id="267" r:id="rId16"/>
    <p:sldId id="330" r:id="rId17"/>
    <p:sldId id="270" r:id="rId18"/>
    <p:sldId id="271" r:id="rId19"/>
    <p:sldId id="332" r:id="rId20"/>
    <p:sldId id="333" r:id="rId21"/>
    <p:sldId id="335" r:id="rId22"/>
    <p:sldId id="331" r:id="rId23"/>
    <p:sldId id="301" r:id="rId24"/>
    <p:sldId id="307" r:id="rId25"/>
    <p:sldId id="309" r:id="rId26"/>
    <p:sldId id="334" r:id="rId27"/>
    <p:sldId id="311" r:id="rId28"/>
    <p:sldId id="313" r:id="rId29"/>
    <p:sldId id="337" r:id="rId30"/>
    <p:sldId id="336" r:id="rId31"/>
    <p:sldId id="277" r:id="rId32"/>
    <p:sldId id="274" r:id="rId33"/>
    <p:sldId id="275" r:id="rId34"/>
    <p:sldId id="278" r:id="rId35"/>
    <p:sldId id="283" r:id="rId36"/>
    <p:sldId id="279" r:id="rId37"/>
    <p:sldId id="296" r:id="rId38"/>
    <p:sldId id="316" r:id="rId39"/>
    <p:sldId id="317" r:id="rId40"/>
    <p:sldId id="318" r:id="rId41"/>
    <p:sldId id="319" r:id="rId42"/>
    <p:sldId id="320" r:id="rId43"/>
    <p:sldId id="321"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67" d="100"/>
          <a:sy n="67" d="100"/>
        </p:scale>
        <p:origin x="7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3237CF-694F-4CB1-BABC-D79DC543B328}"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E127DD-FB22-4B2E-9E73-709F97EEC5CB}" type="slidenum">
              <a:rPr lang="en-US" smtClean="0"/>
              <a:t>‹#›</a:t>
            </a:fld>
            <a:endParaRPr lang="en-US"/>
          </a:p>
        </p:txBody>
      </p:sp>
    </p:spTree>
    <p:extLst>
      <p:ext uri="{BB962C8B-B14F-4D97-AF65-F5344CB8AC3E}">
        <p14:creationId xmlns:p14="http://schemas.microsoft.com/office/powerpoint/2010/main" val="1545907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E7F2F9DA-9AF8-4112-999C-24BDFC202D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330770A7-815F-436C-8942-D0A2B466C65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characteristic of the culture of computers, information technology, and virtual reality.</a:t>
            </a:r>
          </a:p>
          <a:p>
            <a:pPr eaLnBrk="1" hangingPunct="1">
              <a:spcBef>
                <a:spcPct val="0"/>
              </a:spcBef>
            </a:pPr>
            <a:r>
              <a:rPr lang="en-US" altLang="en-US"/>
              <a:t>"the cyber age"</a:t>
            </a:r>
          </a:p>
          <a:p>
            <a:pPr eaLnBrk="1" hangingPunct="1">
              <a:spcBef>
                <a:spcPct val="0"/>
              </a:spcBef>
            </a:pPr>
            <a:r>
              <a:rPr lang="en-US" altLang="en-US"/>
              <a:t>We are living in cyber age.</a:t>
            </a:r>
          </a:p>
        </p:txBody>
      </p:sp>
      <p:sp>
        <p:nvSpPr>
          <p:cNvPr id="6148" name="Slide Number Placeholder 3">
            <a:extLst>
              <a:ext uri="{FF2B5EF4-FFF2-40B4-BE49-F238E27FC236}">
                <a16:creationId xmlns:a16="http://schemas.microsoft.com/office/drawing/2014/main" id="{2535E823-F2F3-40E7-ACE6-84231C594AC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0888" indent="-287338">
              <a:defRPr>
                <a:solidFill>
                  <a:schemeClr val="tx1"/>
                </a:solidFill>
                <a:latin typeface="Arial" panose="020B0604020202020204" pitchFamily="34" charset="0"/>
              </a:defRPr>
            </a:lvl2pPr>
            <a:lvl3pPr marL="1154113" indent="-230188">
              <a:defRPr>
                <a:solidFill>
                  <a:schemeClr val="tx1"/>
                </a:solidFill>
                <a:latin typeface="Arial" panose="020B0604020202020204" pitchFamily="34" charset="0"/>
              </a:defRPr>
            </a:lvl3pPr>
            <a:lvl4pPr marL="1617663" indent="-230188">
              <a:defRPr>
                <a:solidFill>
                  <a:schemeClr val="tx1"/>
                </a:solidFill>
                <a:latin typeface="Arial" panose="020B0604020202020204" pitchFamily="34" charset="0"/>
              </a:defRPr>
            </a:lvl4pPr>
            <a:lvl5pPr marL="2079625" indent="-230188">
              <a:defRPr>
                <a:solidFill>
                  <a:schemeClr val="tx1"/>
                </a:solidFill>
                <a:latin typeface="Arial" panose="020B0604020202020204" pitchFamily="34" charset="0"/>
              </a:defRPr>
            </a:lvl5pPr>
            <a:lvl6pPr marL="2536825" indent="-230188" eaLnBrk="0" fontAlgn="base" hangingPunct="0">
              <a:spcBef>
                <a:spcPct val="0"/>
              </a:spcBef>
              <a:spcAft>
                <a:spcPct val="0"/>
              </a:spcAft>
              <a:defRPr>
                <a:solidFill>
                  <a:schemeClr val="tx1"/>
                </a:solidFill>
                <a:latin typeface="Arial" panose="020B0604020202020204" pitchFamily="34" charset="0"/>
              </a:defRPr>
            </a:lvl6pPr>
            <a:lvl7pPr marL="2994025" indent="-230188" eaLnBrk="0" fontAlgn="base" hangingPunct="0">
              <a:spcBef>
                <a:spcPct val="0"/>
              </a:spcBef>
              <a:spcAft>
                <a:spcPct val="0"/>
              </a:spcAft>
              <a:defRPr>
                <a:solidFill>
                  <a:schemeClr val="tx1"/>
                </a:solidFill>
                <a:latin typeface="Arial" panose="020B0604020202020204" pitchFamily="34" charset="0"/>
              </a:defRPr>
            </a:lvl7pPr>
            <a:lvl8pPr marL="3451225" indent="-230188" eaLnBrk="0" fontAlgn="base" hangingPunct="0">
              <a:spcBef>
                <a:spcPct val="0"/>
              </a:spcBef>
              <a:spcAft>
                <a:spcPct val="0"/>
              </a:spcAft>
              <a:defRPr>
                <a:solidFill>
                  <a:schemeClr val="tx1"/>
                </a:solidFill>
                <a:latin typeface="Arial" panose="020B0604020202020204" pitchFamily="34" charset="0"/>
              </a:defRPr>
            </a:lvl8pPr>
            <a:lvl9pPr marL="3908425" indent="-230188" eaLnBrk="0" fontAlgn="base" hangingPunct="0">
              <a:spcBef>
                <a:spcPct val="0"/>
              </a:spcBef>
              <a:spcAft>
                <a:spcPct val="0"/>
              </a:spcAft>
              <a:defRPr>
                <a:solidFill>
                  <a:schemeClr val="tx1"/>
                </a:solidFill>
                <a:latin typeface="Arial" panose="020B0604020202020204" pitchFamily="34" charset="0"/>
              </a:defRPr>
            </a:lvl9pPr>
          </a:lstStyle>
          <a:p>
            <a:fld id="{A391E441-A747-44B0-8F86-84C77C8F0063}" type="slidenum">
              <a:rPr lang="en-US" altLang="en-US" smtClean="0"/>
              <a:pPr/>
              <a:t>15</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C9CE967F-9D4A-4F83-B747-F0658C747C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71392D3B-4248-43E9-927B-2787EA0C085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solidFill>
                  <a:schemeClr val="bg1"/>
                </a:solidFill>
              </a:rPr>
              <a:t>Promulgated :  Naqiz</a:t>
            </a:r>
            <a:endParaRPr lang="en-US" altLang="en-US"/>
          </a:p>
        </p:txBody>
      </p:sp>
      <p:sp>
        <p:nvSpPr>
          <p:cNvPr id="18436" name="Slide Number Placeholder 3">
            <a:extLst>
              <a:ext uri="{FF2B5EF4-FFF2-40B4-BE49-F238E27FC236}">
                <a16:creationId xmlns:a16="http://schemas.microsoft.com/office/drawing/2014/main" id="{82C0849C-1CD7-4773-8E41-0393828AAF7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0888" indent="-287338">
              <a:defRPr>
                <a:solidFill>
                  <a:schemeClr val="tx1"/>
                </a:solidFill>
                <a:latin typeface="Arial" panose="020B0604020202020204" pitchFamily="34" charset="0"/>
              </a:defRPr>
            </a:lvl2pPr>
            <a:lvl3pPr marL="1154113" indent="-230188">
              <a:defRPr>
                <a:solidFill>
                  <a:schemeClr val="tx1"/>
                </a:solidFill>
                <a:latin typeface="Arial" panose="020B0604020202020204" pitchFamily="34" charset="0"/>
              </a:defRPr>
            </a:lvl3pPr>
            <a:lvl4pPr marL="1617663" indent="-230188">
              <a:defRPr>
                <a:solidFill>
                  <a:schemeClr val="tx1"/>
                </a:solidFill>
                <a:latin typeface="Arial" panose="020B0604020202020204" pitchFamily="34" charset="0"/>
              </a:defRPr>
            </a:lvl4pPr>
            <a:lvl5pPr marL="2079625" indent="-230188">
              <a:defRPr>
                <a:solidFill>
                  <a:schemeClr val="tx1"/>
                </a:solidFill>
                <a:latin typeface="Arial" panose="020B0604020202020204" pitchFamily="34" charset="0"/>
              </a:defRPr>
            </a:lvl5pPr>
            <a:lvl6pPr marL="2536825" indent="-230188" eaLnBrk="0" fontAlgn="base" hangingPunct="0">
              <a:spcBef>
                <a:spcPct val="0"/>
              </a:spcBef>
              <a:spcAft>
                <a:spcPct val="0"/>
              </a:spcAft>
              <a:defRPr>
                <a:solidFill>
                  <a:schemeClr val="tx1"/>
                </a:solidFill>
                <a:latin typeface="Arial" panose="020B0604020202020204" pitchFamily="34" charset="0"/>
              </a:defRPr>
            </a:lvl6pPr>
            <a:lvl7pPr marL="2994025" indent="-230188" eaLnBrk="0" fontAlgn="base" hangingPunct="0">
              <a:spcBef>
                <a:spcPct val="0"/>
              </a:spcBef>
              <a:spcAft>
                <a:spcPct val="0"/>
              </a:spcAft>
              <a:defRPr>
                <a:solidFill>
                  <a:schemeClr val="tx1"/>
                </a:solidFill>
                <a:latin typeface="Arial" panose="020B0604020202020204" pitchFamily="34" charset="0"/>
              </a:defRPr>
            </a:lvl7pPr>
            <a:lvl8pPr marL="3451225" indent="-230188" eaLnBrk="0" fontAlgn="base" hangingPunct="0">
              <a:spcBef>
                <a:spcPct val="0"/>
              </a:spcBef>
              <a:spcAft>
                <a:spcPct val="0"/>
              </a:spcAft>
              <a:defRPr>
                <a:solidFill>
                  <a:schemeClr val="tx1"/>
                </a:solidFill>
                <a:latin typeface="Arial" panose="020B0604020202020204" pitchFamily="34" charset="0"/>
              </a:defRPr>
            </a:lvl8pPr>
            <a:lvl9pPr marL="3908425" indent="-230188" eaLnBrk="0" fontAlgn="base" hangingPunct="0">
              <a:spcBef>
                <a:spcPct val="0"/>
              </a:spcBef>
              <a:spcAft>
                <a:spcPct val="0"/>
              </a:spcAft>
              <a:defRPr>
                <a:solidFill>
                  <a:schemeClr val="tx1"/>
                </a:solidFill>
                <a:latin typeface="Arial" panose="020B0604020202020204" pitchFamily="34" charset="0"/>
              </a:defRPr>
            </a:lvl9pPr>
          </a:lstStyle>
          <a:p>
            <a:fld id="{B36804BF-EDFC-431F-ABFB-EBE76618B634}" type="slidenum">
              <a:rPr lang="en-US" altLang="en-US" smtClean="0"/>
              <a:pPr/>
              <a:t>22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52751630-D31D-4026-B0B7-26878DA65A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6226ED6E-72EE-4759-A148-AFFEA60CAA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t>Ordinance : Urgent need ….President right ..but for 90 days</a:t>
            </a:r>
          </a:p>
        </p:txBody>
      </p:sp>
      <p:sp>
        <p:nvSpPr>
          <p:cNvPr id="22532" name="Slide Number Placeholder 3">
            <a:extLst>
              <a:ext uri="{FF2B5EF4-FFF2-40B4-BE49-F238E27FC236}">
                <a16:creationId xmlns:a16="http://schemas.microsoft.com/office/drawing/2014/main" id="{5B928F6B-FCA6-4EB2-B33D-3679CB786AF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0888" indent="-287338">
              <a:defRPr>
                <a:solidFill>
                  <a:schemeClr val="tx1"/>
                </a:solidFill>
                <a:latin typeface="Arial" panose="020B0604020202020204" pitchFamily="34" charset="0"/>
              </a:defRPr>
            </a:lvl2pPr>
            <a:lvl3pPr marL="1154113" indent="-230188">
              <a:defRPr>
                <a:solidFill>
                  <a:schemeClr val="tx1"/>
                </a:solidFill>
                <a:latin typeface="Arial" panose="020B0604020202020204" pitchFamily="34" charset="0"/>
              </a:defRPr>
            </a:lvl3pPr>
            <a:lvl4pPr marL="1617663" indent="-230188">
              <a:defRPr>
                <a:solidFill>
                  <a:schemeClr val="tx1"/>
                </a:solidFill>
                <a:latin typeface="Arial" panose="020B0604020202020204" pitchFamily="34" charset="0"/>
              </a:defRPr>
            </a:lvl4pPr>
            <a:lvl5pPr marL="2079625" indent="-230188">
              <a:defRPr>
                <a:solidFill>
                  <a:schemeClr val="tx1"/>
                </a:solidFill>
                <a:latin typeface="Arial" panose="020B0604020202020204" pitchFamily="34" charset="0"/>
              </a:defRPr>
            </a:lvl5pPr>
            <a:lvl6pPr marL="2536825" indent="-230188" eaLnBrk="0" fontAlgn="base" hangingPunct="0">
              <a:spcBef>
                <a:spcPct val="0"/>
              </a:spcBef>
              <a:spcAft>
                <a:spcPct val="0"/>
              </a:spcAft>
              <a:defRPr>
                <a:solidFill>
                  <a:schemeClr val="tx1"/>
                </a:solidFill>
                <a:latin typeface="Arial" panose="020B0604020202020204" pitchFamily="34" charset="0"/>
              </a:defRPr>
            </a:lvl6pPr>
            <a:lvl7pPr marL="2994025" indent="-230188" eaLnBrk="0" fontAlgn="base" hangingPunct="0">
              <a:spcBef>
                <a:spcPct val="0"/>
              </a:spcBef>
              <a:spcAft>
                <a:spcPct val="0"/>
              </a:spcAft>
              <a:defRPr>
                <a:solidFill>
                  <a:schemeClr val="tx1"/>
                </a:solidFill>
                <a:latin typeface="Arial" panose="020B0604020202020204" pitchFamily="34" charset="0"/>
              </a:defRPr>
            </a:lvl7pPr>
            <a:lvl8pPr marL="3451225" indent="-230188" eaLnBrk="0" fontAlgn="base" hangingPunct="0">
              <a:spcBef>
                <a:spcPct val="0"/>
              </a:spcBef>
              <a:spcAft>
                <a:spcPct val="0"/>
              </a:spcAft>
              <a:defRPr>
                <a:solidFill>
                  <a:schemeClr val="tx1"/>
                </a:solidFill>
                <a:latin typeface="Arial" panose="020B0604020202020204" pitchFamily="34" charset="0"/>
              </a:defRPr>
            </a:lvl8pPr>
            <a:lvl9pPr marL="3908425" indent="-230188" eaLnBrk="0" fontAlgn="base" hangingPunct="0">
              <a:spcBef>
                <a:spcPct val="0"/>
              </a:spcBef>
              <a:spcAft>
                <a:spcPct val="0"/>
              </a:spcAft>
              <a:defRPr>
                <a:solidFill>
                  <a:schemeClr val="tx1"/>
                </a:solidFill>
                <a:latin typeface="Arial" panose="020B0604020202020204" pitchFamily="34" charset="0"/>
              </a:defRPr>
            </a:lvl9pPr>
          </a:lstStyle>
          <a:p>
            <a:fld id="{0F045A60-7855-4822-A08F-76905EE4776D}" type="slidenum">
              <a:rPr lang="en-US" altLang="en-US" smtClean="0"/>
              <a:pPr/>
              <a:t>24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FE6085A1-274D-43D5-B736-086E1AD4971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7678E099-8D40-4C3C-8F12-6FD988404CD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Notarization provides assurance that a document is genuine, its signature is authentic, and the signer acted willingly and knowingly. </a:t>
            </a:r>
          </a:p>
          <a:p>
            <a:endParaRPr lang="en-US" altLang="en-US"/>
          </a:p>
          <a:p>
            <a:r>
              <a:rPr lang="en-US" altLang="en-US"/>
              <a:t>Jurisdiction is the official power to make legal decisions and</a:t>
            </a:r>
            <a:r>
              <a:rPr lang="en-US" altLang="en-US" u="sng"/>
              <a:t> judgments.</a:t>
            </a:r>
          </a:p>
        </p:txBody>
      </p:sp>
      <p:sp>
        <p:nvSpPr>
          <p:cNvPr id="26628" name="Slide Number Placeholder 3">
            <a:extLst>
              <a:ext uri="{FF2B5EF4-FFF2-40B4-BE49-F238E27FC236}">
                <a16:creationId xmlns:a16="http://schemas.microsoft.com/office/drawing/2014/main" id="{0DCD5D57-D64B-4DE0-824B-1C22721924E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0888" indent="-287338">
              <a:defRPr>
                <a:solidFill>
                  <a:schemeClr val="tx1"/>
                </a:solidFill>
                <a:latin typeface="Arial" panose="020B0604020202020204" pitchFamily="34" charset="0"/>
              </a:defRPr>
            </a:lvl2pPr>
            <a:lvl3pPr marL="1154113" indent="-230188">
              <a:defRPr>
                <a:solidFill>
                  <a:schemeClr val="tx1"/>
                </a:solidFill>
                <a:latin typeface="Arial" panose="020B0604020202020204" pitchFamily="34" charset="0"/>
              </a:defRPr>
            </a:lvl3pPr>
            <a:lvl4pPr marL="1617663" indent="-230188">
              <a:defRPr>
                <a:solidFill>
                  <a:schemeClr val="tx1"/>
                </a:solidFill>
                <a:latin typeface="Arial" panose="020B0604020202020204" pitchFamily="34" charset="0"/>
              </a:defRPr>
            </a:lvl4pPr>
            <a:lvl5pPr marL="2079625" indent="-230188">
              <a:defRPr>
                <a:solidFill>
                  <a:schemeClr val="tx1"/>
                </a:solidFill>
                <a:latin typeface="Arial" panose="020B0604020202020204" pitchFamily="34" charset="0"/>
              </a:defRPr>
            </a:lvl5pPr>
            <a:lvl6pPr marL="2536825" indent="-230188" eaLnBrk="0" fontAlgn="base" hangingPunct="0">
              <a:spcBef>
                <a:spcPct val="0"/>
              </a:spcBef>
              <a:spcAft>
                <a:spcPct val="0"/>
              </a:spcAft>
              <a:defRPr>
                <a:solidFill>
                  <a:schemeClr val="tx1"/>
                </a:solidFill>
                <a:latin typeface="Arial" panose="020B0604020202020204" pitchFamily="34" charset="0"/>
              </a:defRPr>
            </a:lvl6pPr>
            <a:lvl7pPr marL="2994025" indent="-230188" eaLnBrk="0" fontAlgn="base" hangingPunct="0">
              <a:spcBef>
                <a:spcPct val="0"/>
              </a:spcBef>
              <a:spcAft>
                <a:spcPct val="0"/>
              </a:spcAft>
              <a:defRPr>
                <a:solidFill>
                  <a:schemeClr val="tx1"/>
                </a:solidFill>
                <a:latin typeface="Arial" panose="020B0604020202020204" pitchFamily="34" charset="0"/>
              </a:defRPr>
            </a:lvl7pPr>
            <a:lvl8pPr marL="3451225" indent="-230188" eaLnBrk="0" fontAlgn="base" hangingPunct="0">
              <a:spcBef>
                <a:spcPct val="0"/>
              </a:spcBef>
              <a:spcAft>
                <a:spcPct val="0"/>
              </a:spcAft>
              <a:defRPr>
                <a:solidFill>
                  <a:schemeClr val="tx1"/>
                </a:solidFill>
                <a:latin typeface="Arial" panose="020B0604020202020204" pitchFamily="34" charset="0"/>
              </a:defRPr>
            </a:lvl8pPr>
            <a:lvl9pPr marL="3908425" indent="-230188" eaLnBrk="0" fontAlgn="base" hangingPunct="0">
              <a:spcBef>
                <a:spcPct val="0"/>
              </a:spcBef>
              <a:spcAft>
                <a:spcPct val="0"/>
              </a:spcAft>
              <a:defRPr>
                <a:solidFill>
                  <a:schemeClr val="tx1"/>
                </a:solidFill>
                <a:latin typeface="Arial" panose="020B0604020202020204" pitchFamily="34" charset="0"/>
              </a:defRPr>
            </a:lvl9pPr>
          </a:lstStyle>
          <a:p>
            <a:fld id="{59ECCD77-97FA-4183-9D36-E3A2FAA313C4}" type="slidenum">
              <a:rPr lang="en-US" altLang="en-US" smtClean="0"/>
              <a:pPr/>
              <a:t>25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DC6929DA-3E70-4952-B133-1412A4E2A1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Notes Placeholder 2">
            <a:extLst>
              <a:ext uri="{FF2B5EF4-FFF2-40B4-BE49-F238E27FC236}">
                <a16:creationId xmlns:a16="http://schemas.microsoft.com/office/drawing/2014/main" id="{0C91029D-7531-4A7E-8F05-74BFE21C00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Forgery : illegally manipulate things</a:t>
            </a:r>
          </a:p>
        </p:txBody>
      </p:sp>
      <p:sp>
        <p:nvSpPr>
          <p:cNvPr id="34820" name="Slide Number Placeholder 3">
            <a:extLst>
              <a:ext uri="{FF2B5EF4-FFF2-40B4-BE49-F238E27FC236}">
                <a16:creationId xmlns:a16="http://schemas.microsoft.com/office/drawing/2014/main" id="{AE7DC8AE-1A48-4830-9A02-5427EF0B5E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0888" indent="-287338">
              <a:defRPr>
                <a:solidFill>
                  <a:schemeClr val="tx1"/>
                </a:solidFill>
                <a:latin typeface="Arial" panose="020B0604020202020204" pitchFamily="34" charset="0"/>
              </a:defRPr>
            </a:lvl2pPr>
            <a:lvl3pPr marL="1154113" indent="-230188">
              <a:defRPr>
                <a:solidFill>
                  <a:schemeClr val="tx1"/>
                </a:solidFill>
                <a:latin typeface="Arial" panose="020B0604020202020204" pitchFamily="34" charset="0"/>
              </a:defRPr>
            </a:lvl3pPr>
            <a:lvl4pPr marL="1617663" indent="-230188">
              <a:defRPr>
                <a:solidFill>
                  <a:schemeClr val="tx1"/>
                </a:solidFill>
                <a:latin typeface="Arial" panose="020B0604020202020204" pitchFamily="34" charset="0"/>
              </a:defRPr>
            </a:lvl4pPr>
            <a:lvl5pPr marL="2079625" indent="-230188">
              <a:defRPr>
                <a:solidFill>
                  <a:schemeClr val="tx1"/>
                </a:solidFill>
                <a:latin typeface="Arial" panose="020B0604020202020204" pitchFamily="34" charset="0"/>
              </a:defRPr>
            </a:lvl5pPr>
            <a:lvl6pPr marL="2536825" indent="-230188" eaLnBrk="0" fontAlgn="base" hangingPunct="0">
              <a:spcBef>
                <a:spcPct val="0"/>
              </a:spcBef>
              <a:spcAft>
                <a:spcPct val="0"/>
              </a:spcAft>
              <a:defRPr>
                <a:solidFill>
                  <a:schemeClr val="tx1"/>
                </a:solidFill>
                <a:latin typeface="Arial" panose="020B0604020202020204" pitchFamily="34" charset="0"/>
              </a:defRPr>
            </a:lvl6pPr>
            <a:lvl7pPr marL="2994025" indent="-230188" eaLnBrk="0" fontAlgn="base" hangingPunct="0">
              <a:spcBef>
                <a:spcPct val="0"/>
              </a:spcBef>
              <a:spcAft>
                <a:spcPct val="0"/>
              </a:spcAft>
              <a:defRPr>
                <a:solidFill>
                  <a:schemeClr val="tx1"/>
                </a:solidFill>
                <a:latin typeface="Arial" panose="020B0604020202020204" pitchFamily="34" charset="0"/>
              </a:defRPr>
            </a:lvl7pPr>
            <a:lvl8pPr marL="3451225" indent="-230188" eaLnBrk="0" fontAlgn="base" hangingPunct="0">
              <a:spcBef>
                <a:spcPct val="0"/>
              </a:spcBef>
              <a:spcAft>
                <a:spcPct val="0"/>
              </a:spcAft>
              <a:defRPr>
                <a:solidFill>
                  <a:schemeClr val="tx1"/>
                </a:solidFill>
                <a:latin typeface="Arial" panose="020B0604020202020204" pitchFamily="34" charset="0"/>
              </a:defRPr>
            </a:lvl8pPr>
            <a:lvl9pPr marL="3908425" indent="-230188" eaLnBrk="0" fontAlgn="base" hangingPunct="0">
              <a:spcBef>
                <a:spcPct val="0"/>
              </a:spcBef>
              <a:spcAft>
                <a:spcPct val="0"/>
              </a:spcAft>
              <a:defRPr>
                <a:solidFill>
                  <a:schemeClr val="tx1"/>
                </a:solidFill>
                <a:latin typeface="Arial" panose="020B0604020202020204" pitchFamily="34" charset="0"/>
              </a:defRPr>
            </a:lvl9pPr>
          </a:lstStyle>
          <a:p>
            <a:fld id="{2DAD53A4-3843-4BFB-9939-515F7F7396ED}" type="slidenum">
              <a:rPr lang="en-US" altLang="en-US" smtClean="0"/>
              <a:pPr/>
              <a:t>29</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CDD4915E-A0F3-4667-949E-2DF04E7C7F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a:extLst>
              <a:ext uri="{FF2B5EF4-FFF2-40B4-BE49-F238E27FC236}">
                <a16:creationId xmlns:a16="http://schemas.microsoft.com/office/drawing/2014/main" id="{FCA010EE-1522-464D-B359-7E50543D00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ur-PK" altLang="en-US"/>
              <a:t>گستاخ</a:t>
            </a:r>
            <a:r>
              <a:rPr lang="en-US" altLang="en-US"/>
              <a:t> profane</a:t>
            </a:r>
          </a:p>
        </p:txBody>
      </p:sp>
      <p:sp>
        <p:nvSpPr>
          <p:cNvPr id="49156" name="Slide Number Placeholder 3">
            <a:extLst>
              <a:ext uri="{FF2B5EF4-FFF2-40B4-BE49-F238E27FC236}">
                <a16:creationId xmlns:a16="http://schemas.microsoft.com/office/drawing/2014/main" id="{0EC69C9C-69C8-4BE9-B058-2804FFA3732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0888" indent="-287338">
              <a:defRPr>
                <a:solidFill>
                  <a:schemeClr val="tx1"/>
                </a:solidFill>
                <a:latin typeface="Arial" panose="020B0604020202020204" pitchFamily="34" charset="0"/>
              </a:defRPr>
            </a:lvl2pPr>
            <a:lvl3pPr marL="1154113" indent="-230188">
              <a:defRPr>
                <a:solidFill>
                  <a:schemeClr val="tx1"/>
                </a:solidFill>
                <a:latin typeface="Arial" panose="020B0604020202020204" pitchFamily="34" charset="0"/>
              </a:defRPr>
            </a:lvl3pPr>
            <a:lvl4pPr marL="1617663" indent="-230188">
              <a:defRPr>
                <a:solidFill>
                  <a:schemeClr val="tx1"/>
                </a:solidFill>
                <a:latin typeface="Arial" panose="020B0604020202020204" pitchFamily="34" charset="0"/>
              </a:defRPr>
            </a:lvl4pPr>
            <a:lvl5pPr marL="2079625" indent="-230188">
              <a:defRPr>
                <a:solidFill>
                  <a:schemeClr val="tx1"/>
                </a:solidFill>
                <a:latin typeface="Arial" panose="020B0604020202020204" pitchFamily="34" charset="0"/>
              </a:defRPr>
            </a:lvl5pPr>
            <a:lvl6pPr marL="2536825" indent="-230188" eaLnBrk="0" fontAlgn="base" hangingPunct="0">
              <a:spcBef>
                <a:spcPct val="0"/>
              </a:spcBef>
              <a:spcAft>
                <a:spcPct val="0"/>
              </a:spcAft>
              <a:defRPr>
                <a:solidFill>
                  <a:schemeClr val="tx1"/>
                </a:solidFill>
                <a:latin typeface="Arial" panose="020B0604020202020204" pitchFamily="34" charset="0"/>
              </a:defRPr>
            </a:lvl6pPr>
            <a:lvl7pPr marL="2994025" indent="-230188" eaLnBrk="0" fontAlgn="base" hangingPunct="0">
              <a:spcBef>
                <a:spcPct val="0"/>
              </a:spcBef>
              <a:spcAft>
                <a:spcPct val="0"/>
              </a:spcAft>
              <a:defRPr>
                <a:solidFill>
                  <a:schemeClr val="tx1"/>
                </a:solidFill>
                <a:latin typeface="Arial" panose="020B0604020202020204" pitchFamily="34" charset="0"/>
              </a:defRPr>
            </a:lvl7pPr>
            <a:lvl8pPr marL="3451225" indent="-230188" eaLnBrk="0" fontAlgn="base" hangingPunct="0">
              <a:spcBef>
                <a:spcPct val="0"/>
              </a:spcBef>
              <a:spcAft>
                <a:spcPct val="0"/>
              </a:spcAft>
              <a:defRPr>
                <a:solidFill>
                  <a:schemeClr val="tx1"/>
                </a:solidFill>
                <a:latin typeface="Arial" panose="020B0604020202020204" pitchFamily="34" charset="0"/>
              </a:defRPr>
            </a:lvl8pPr>
            <a:lvl9pPr marL="3908425" indent="-230188" eaLnBrk="0" fontAlgn="base" hangingPunct="0">
              <a:spcBef>
                <a:spcPct val="0"/>
              </a:spcBef>
              <a:spcAft>
                <a:spcPct val="0"/>
              </a:spcAft>
              <a:defRPr>
                <a:solidFill>
                  <a:schemeClr val="tx1"/>
                </a:solidFill>
                <a:latin typeface="Arial" panose="020B0604020202020204" pitchFamily="34" charset="0"/>
              </a:defRPr>
            </a:lvl9pPr>
          </a:lstStyle>
          <a:p>
            <a:fld id="{4E2461DA-E174-484E-AFBB-019ED9931470}" type="slidenum">
              <a:rPr lang="en-US" altLang="en-US" smtClean="0"/>
              <a:pPr/>
              <a:t>32</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A7BCBBED-D7C7-49BA-8C76-0914A71E5C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5FE4D52C-D87C-4ED7-8760-4CF6F70849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8916" name="Slide Number Placeholder 3">
            <a:extLst>
              <a:ext uri="{FF2B5EF4-FFF2-40B4-BE49-F238E27FC236}">
                <a16:creationId xmlns:a16="http://schemas.microsoft.com/office/drawing/2014/main" id="{CF590B9A-C42D-4FDB-BF33-E0E20752CC4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0888" indent="-287338">
              <a:defRPr>
                <a:solidFill>
                  <a:schemeClr val="tx1"/>
                </a:solidFill>
                <a:latin typeface="Arial" panose="020B0604020202020204" pitchFamily="34" charset="0"/>
              </a:defRPr>
            </a:lvl2pPr>
            <a:lvl3pPr marL="1154113" indent="-230188">
              <a:defRPr>
                <a:solidFill>
                  <a:schemeClr val="tx1"/>
                </a:solidFill>
                <a:latin typeface="Arial" panose="020B0604020202020204" pitchFamily="34" charset="0"/>
              </a:defRPr>
            </a:lvl3pPr>
            <a:lvl4pPr marL="1617663" indent="-230188">
              <a:defRPr>
                <a:solidFill>
                  <a:schemeClr val="tx1"/>
                </a:solidFill>
                <a:latin typeface="Arial" panose="020B0604020202020204" pitchFamily="34" charset="0"/>
              </a:defRPr>
            </a:lvl4pPr>
            <a:lvl5pPr marL="2079625" indent="-230188">
              <a:defRPr>
                <a:solidFill>
                  <a:schemeClr val="tx1"/>
                </a:solidFill>
                <a:latin typeface="Arial" panose="020B0604020202020204" pitchFamily="34" charset="0"/>
              </a:defRPr>
            </a:lvl5pPr>
            <a:lvl6pPr marL="2536825" indent="-230188" eaLnBrk="0" fontAlgn="base" hangingPunct="0">
              <a:spcBef>
                <a:spcPct val="0"/>
              </a:spcBef>
              <a:spcAft>
                <a:spcPct val="0"/>
              </a:spcAft>
              <a:defRPr>
                <a:solidFill>
                  <a:schemeClr val="tx1"/>
                </a:solidFill>
                <a:latin typeface="Arial" panose="020B0604020202020204" pitchFamily="34" charset="0"/>
              </a:defRPr>
            </a:lvl6pPr>
            <a:lvl7pPr marL="2994025" indent="-230188" eaLnBrk="0" fontAlgn="base" hangingPunct="0">
              <a:spcBef>
                <a:spcPct val="0"/>
              </a:spcBef>
              <a:spcAft>
                <a:spcPct val="0"/>
              </a:spcAft>
              <a:defRPr>
                <a:solidFill>
                  <a:schemeClr val="tx1"/>
                </a:solidFill>
                <a:latin typeface="Arial" panose="020B0604020202020204" pitchFamily="34" charset="0"/>
              </a:defRPr>
            </a:lvl7pPr>
            <a:lvl8pPr marL="3451225" indent="-230188" eaLnBrk="0" fontAlgn="base" hangingPunct="0">
              <a:spcBef>
                <a:spcPct val="0"/>
              </a:spcBef>
              <a:spcAft>
                <a:spcPct val="0"/>
              </a:spcAft>
              <a:defRPr>
                <a:solidFill>
                  <a:schemeClr val="tx1"/>
                </a:solidFill>
                <a:latin typeface="Arial" panose="020B0604020202020204" pitchFamily="34" charset="0"/>
              </a:defRPr>
            </a:lvl8pPr>
            <a:lvl9pPr marL="3908425" indent="-230188" eaLnBrk="0" fontAlgn="base" hangingPunct="0">
              <a:spcBef>
                <a:spcPct val="0"/>
              </a:spcBef>
              <a:spcAft>
                <a:spcPct val="0"/>
              </a:spcAft>
              <a:defRPr>
                <a:solidFill>
                  <a:schemeClr val="tx1"/>
                </a:solidFill>
                <a:latin typeface="Arial" panose="020B0604020202020204" pitchFamily="34" charset="0"/>
              </a:defRPr>
            </a:lvl9pPr>
          </a:lstStyle>
          <a:p>
            <a:fld id="{7849DCDA-B522-4B87-961F-F2FDA517C19B}" type="slidenum">
              <a:rPr lang="en-US" altLang="en-US" smtClean="0"/>
              <a:pPr/>
              <a:t>33</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CB367D71-9410-4E4E-8504-92386E0FD32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CEF709F7-6B00-4F0F-8F93-FA88E61963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t>What we should have to do? </a:t>
            </a:r>
          </a:p>
        </p:txBody>
      </p:sp>
      <p:sp>
        <p:nvSpPr>
          <p:cNvPr id="55300" name="Slide Number Placeholder 3">
            <a:extLst>
              <a:ext uri="{FF2B5EF4-FFF2-40B4-BE49-F238E27FC236}">
                <a16:creationId xmlns:a16="http://schemas.microsoft.com/office/drawing/2014/main" id="{55599E31-14C3-41D7-B639-6745232AAC8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50888" indent="-287338">
              <a:defRPr>
                <a:solidFill>
                  <a:schemeClr val="tx1"/>
                </a:solidFill>
                <a:latin typeface="Arial" panose="020B0604020202020204" pitchFamily="34" charset="0"/>
              </a:defRPr>
            </a:lvl2pPr>
            <a:lvl3pPr marL="1154113" indent="-230188">
              <a:defRPr>
                <a:solidFill>
                  <a:schemeClr val="tx1"/>
                </a:solidFill>
                <a:latin typeface="Arial" panose="020B0604020202020204" pitchFamily="34" charset="0"/>
              </a:defRPr>
            </a:lvl3pPr>
            <a:lvl4pPr marL="1617663" indent="-230188">
              <a:defRPr>
                <a:solidFill>
                  <a:schemeClr val="tx1"/>
                </a:solidFill>
                <a:latin typeface="Arial" panose="020B0604020202020204" pitchFamily="34" charset="0"/>
              </a:defRPr>
            </a:lvl4pPr>
            <a:lvl5pPr marL="2079625" indent="-230188">
              <a:defRPr>
                <a:solidFill>
                  <a:schemeClr val="tx1"/>
                </a:solidFill>
                <a:latin typeface="Arial" panose="020B0604020202020204" pitchFamily="34" charset="0"/>
              </a:defRPr>
            </a:lvl5pPr>
            <a:lvl6pPr marL="2536825" indent="-230188" eaLnBrk="0" fontAlgn="base" hangingPunct="0">
              <a:spcBef>
                <a:spcPct val="0"/>
              </a:spcBef>
              <a:spcAft>
                <a:spcPct val="0"/>
              </a:spcAft>
              <a:defRPr>
                <a:solidFill>
                  <a:schemeClr val="tx1"/>
                </a:solidFill>
                <a:latin typeface="Arial" panose="020B0604020202020204" pitchFamily="34" charset="0"/>
              </a:defRPr>
            </a:lvl6pPr>
            <a:lvl7pPr marL="2994025" indent="-230188" eaLnBrk="0" fontAlgn="base" hangingPunct="0">
              <a:spcBef>
                <a:spcPct val="0"/>
              </a:spcBef>
              <a:spcAft>
                <a:spcPct val="0"/>
              </a:spcAft>
              <a:defRPr>
                <a:solidFill>
                  <a:schemeClr val="tx1"/>
                </a:solidFill>
                <a:latin typeface="Arial" panose="020B0604020202020204" pitchFamily="34" charset="0"/>
              </a:defRPr>
            </a:lvl7pPr>
            <a:lvl8pPr marL="3451225" indent="-230188" eaLnBrk="0" fontAlgn="base" hangingPunct="0">
              <a:spcBef>
                <a:spcPct val="0"/>
              </a:spcBef>
              <a:spcAft>
                <a:spcPct val="0"/>
              </a:spcAft>
              <a:defRPr>
                <a:solidFill>
                  <a:schemeClr val="tx1"/>
                </a:solidFill>
                <a:latin typeface="Arial" panose="020B0604020202020204" pitchFamily="34" charset="0"/>
              </a:defRPr>
            </a:lvl8pPr>
            <a:lvl9pPr marL="3908425" indent="-230188" eaLnBrk="0" fontAlgn="base" hangingPunct="0">
              <a:spcBef>
                <a:spcPct val="0"/>
              </a:spcBef>
              <a:spcAft>
                <a:spcPct val="0"/>
              </a:spcAft>
              <a:defRPr>
                <a:solidFill>
                  <a:schemeClr val="tx1"/>
                </a:solidFill>
                <a:latin typeface="Arial" panose="020B0604020202020204" pitchFamily="34" charset="0"/>
              </a:defRPr>
            </a:lvl9pPr>
          </a:lstStyle>
          <a:p>
            <a:fld id="{61610566-4879-4307-AA23-723C3AEDFAE4}" type="slidenum">
              <a:rPr lang="en-US" altLang="en-US" smtClean="0"/>
              <a:pPr/>
              <a:t>34</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2AE69266-2E2B-43AC-BBAB-79D7A3216552}" type="datetime1">
              <a:rPr lang="en-US" smtClean="0"/>
              <a:t>11/5/2025</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FA99160C-D4EA-4527-887A-60DA6E3DBCEB}" type="slidenum">
              <a:rPr lang="en-US" smtClean="0"/>
              <a:pPr/>
              <a:t>‹#›</a:t>
            </a:fld>
            <a:endParaRPr lang="en-US"/>
          </a:p>
        </p:txBody>
      </p:sp>
    </p:spTree>
    <p:extLst>
      <p:ext uri="{BB962C8B-B14F-4D97-AF65-F5344CB8AC3E}">
        <p14:creationId xmlns:p14="http://schemas.microsoft.com/office/powerpoint/2010/main" val="1337670677"/>
      </p:ext>
    </p:extLst>
  </p:cSld>
  <p:clrMapOvr>
    <a:overrideClrMapping bg1="lt1" tx1="dk1" bg2="lt2" tx2="dk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F8A6BB-1745-4B6B-9AB7-C9D5C96A04F0}" type="datetime1">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99160C-D4EA-4527-887A-60DA6E3DBCEB}" type="slidenum">
              <a:rPr lang="en-US" smtClean="0"/>
              <a:pPr/>
              <a:t>‹#›</a:t>
            </a:fld>
            <a:endParaRPr lang="en-US"/>
          </a:p>
        </p:txBody>
      </p:sp>
    </p:spTree>
    <p:extLst>
      <p:ext uri="{BB962C8B-B14F-4D97-AF65-F5344CB8AC3E}">
        <p14:creationId xmlns:p14="http://schemas.microsoft.com/office/powerpoint/2010/main" val="124014220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FA99160C-D4EA-4527-887A-60DA6E3DBCEB}" type="slidenum">
              <a:rPr lang="en-US" smtClean="0"/>
              <a:t>‹#›</a:t>
            </a:fld>
            <a:endParaRPr lang="en-US"/>
          </a:p>
        </p:txBody>
      </p:sp>
    </p:spTree>
    <p:extLst>
      <p:ext uri="{BB962C8B-B14F-4D97-AF65-F5344CB8AC3E}">
        <p14:creationId xmlns:p14="http://schemas.microsoft.com/office/powerpoint/2010/main" val="223960265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F8A6BB-1745-4B6B-9AB7-C9D5C96A04F0}" type="datetime1">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99160C-D4EA-4527-887A-60DA6E3DBCEB}" type="slidenum">
              <a:rPr lang="en-US" smtClean="0"/>
              <a:pPr/>
              <a:t>‹#›</a:t>
            </a:fld>
            <a:endParaRPr lang="en-US"/>
          </a:p>
        </p:txBody>
      </p:sp>
    </p:spTree>
    <p:extLst>
      <p:ext uri="{BB962C8B-B14F-4D97-AF65-F5344CB8AC3E}">
        <p14:creationId xmlns:p14="http://schemas.microsoft.com/office/powerpoint/2010/main" val="123579851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F8A6BB-1745-4B6B-9AB7-C9D5C96A04F0}" type="datetime1">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99160C-D4EA-4527-887A-60DA6E3DBCEB}" type="slidenum">
              <a:rPr lang="en-US" smtClean="0"/>
              <a:pPr/>
              <a:t>‹#›</a:t>
            </a:fld>
            <a:endParaRPr lang="en-US"/>
          </a:p>
        </p:txBody>
      </p:sp>
    </p:spTree>
    <p:extLst>
      <p:ext uri="{BB962C8B-B14F-4D97-AF65-F5344CB8AC3E}">
        <p14:creationId xmlns:p14="http://schemas.microsoft.com/office/powerpoint/2010/main" val="5195857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99160C-D4EA-4527-887A-60DA6E3DBCEB}" type="slidenum">
              <a:rPr lang="en-US" smtClean="0"/>
              <a:t>‹#›</a:t>
            </a:fld>
            <a:endParaRPr lang="en-US"/>
          </a:p>
        </p:txBody>
      </p:sp>
    </p:spTree>
    <p:extLst>
      <p:ext uri="{BB962C8B-B14F-4D97-AF65-F5344CB8AC3E}">
        <p14:creationId xmlns:p14="http://schemas.microsoft.com/office/powerpoint/2010/main" val="19548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99160C-D4EA-4527-887A-60DA6E3DBCEB}" type="slidenum">
              <a:rPr lang="en-US" smtClean="0"/>
              <a:t>‹#›</a:t>
            </a:fld>
            <a:endParaRPr lang="en-US"/>
          </a:p>
        </p:txBody>
      </p:sp>
    </p:spTree>
    <p:extLst>
      <p:ext uri="{BB962C8B-B14F-4D97-AF65-F5344CB8AC3E}">
        <p14:creationId xmlns:p14="http://schemas.microsoft.com/office/powerpoint/2010/main" val="1727085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B6F8A6BB-1745-4B6B-9AB7-C9D5C96A04F0}" type="datetime1">
              <a:rPr lang="en-US" smtClean="0"/>
              <a:t>11/5/2025</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FA99160C-D4EA-4527-887A-60DA6E3DBCEB}" type="slidenum">
              <a:rPr lang="en-US" smtClean="0"/>
              <a:pPr/>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01616600"/>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FA99160C-D4EA-4527-887A-60DA6E3DBCEB}"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38488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F8A6BB-1745-4B6B-9AB7-C9D5C96A04F0}" type="datetime1">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9160C-D4EA-4527-887A-60DA6E3DBCEB}" type="slidenum">
              <a:rPr lang="en-US" smtClean="0"/>
              <a:pPr/>
              <a:t>‹#›</a:t>
            </a:fld>
            <a:endParaRPr lang="en-US"/>
          </a:p>
        </p:txBody>
      </p:sp>
    </p:spTree>
    <p:extLst>
      <p:ext uri="{BB962C8B-B14F-4D97-AF65-F5344CB8AC3E}">
        <p14:creationId xmlns:p14="http://schemas.microsoft.com/office/powerpoint/2010/main" val="11137992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F8A6BB-1745-4B6B-9AB7-C9D5C96A04F0}" type="datetime1">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99160C-D4EA-4527-887A-60DA6E3DBCEB}" type="slidenum">
              <a:rPr lang="en-US" smtClean="0"/>
              <a:pPr/>
              <a:t>‹#›</a:t>
            </a:fld>
            <a:endParaRPr lang="en-US"/>
          </a:p>
        </p:txBody>
      </p:sp>
    </p:spTree>
    <p:extLst>
      <p:ext uri="{BB962C8B-B14F-4D97-AF65-F5344CB8AC3E}">
        <p14:creationId xmlns:p14="http://schemas.microsoft.com/office/powerpoint/2010/main" val="18437818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40083F02-CC13-46CB-9E95-83EFD410966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A07771A9-405A-413A-BCF3-3B19A6D8AEF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03EAB2C3-85FA-41F1-9770-459C269FF49E}"/>
              </a:ext>
            </a:extLst>
          </p:cNvPr>
          <p:cNvSpPr>
            <a:spLocks noGrp="1" noChangeArrowheads="1"/>
          </p:cNvSpPr>
          <p:nvPr>
            <p:ph type="sldNum" sz="quarter" idx="12"/>
          </p:nvPr>
        </p:nvSpPr>
        <p:spPr>
          <a:ln/>
        </p:spPr>
        <p:txBody>
          <a:bodyPr/>
          <a:lstStyle>
            <a:lvl1pPr>
              <a:defRPr/>
            </a:lvl1pPr>
          </a:lstStyle>
          <a:p>
            <a:pPr>
              <a:defRPr/>
            </a:pPr>
            <a:fld id="{F77A47BD-FC48-4B21-85D5-D97F5553DCB7}" type="slidenum">
              <a:rPr lang="en-US" altLang="en-US"/>
              <a:pPr>
                <a:defRPr/>
              </a:pPr>
              <a:t>‹#›</a:t>
            </a:fld>
            <a:endParaRPr lang="en-US" altLang="en-US"/>
          </a:p>
        </p:txBody>
      </p:sp>
    </p:spTree>
    <p:extLst>
      <p:ext uri="{BB962C8B-B14F-4D97-AF65-F5344CB8AC3E}">
        <p14:creationId xmlns:p14="http://schemas.microsoft.com/office/powerpoint/2010/main" val="3884390370"/>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962BC-462A-42F9-B73F-D3743682A1C1}"/>
              </a:ext>
            </a:extLst>
          </p:cNvPr>
          <p:cNvSpPr>
            <a:spLocks noGrp="1"/>
          </p:cNvSpPr>
          <p:nvPr>
            <p:ph type="ctrTitle"/>
          </p:nvPr>
        </p:nvSpPr>
        <p:spPr>
          <a:xfrm>
            <a:off x="2550017" y="3588045"/>
            <a:ext cx="7057622" cy="1986365"/>
          </a:xfrm>
        </p:spPr>
        <p:txBody>
          <a:bodyPr anchor="ctr">
            <a:noAutofit/>
          </a:bodyPr>
          <a:lstStyle>
            <a:lvl1pPr algn="ctr">
              <a:defRPr sz="4000">
                <a:latin typeface="Aharoni" panose="02010803020104030203" pitchFamily="2" charset="-79"/>
                <a:cs typeface="Aharoni" panose="02010803020104030203" pitchFamily="2" charset="-79"/>
              </a:defRPr>
            </a:lvl1pPr>
          </a:lstStyle>
          <a:p>
            <a:r>
              <a:rPr lang="en-GB" dirty="0"/>
              <a:t>Click to edit Master title style</a:t>
            </a:r>
            <a:endParaRPr lang="en-US" dirty="0"/>
          </a:p>
        </p:txBody>
      </p:sp>
    </p:spTree>
    <p:extLst>
      <p:ext uri="{BB962C8B-B14F-4D97-AF65-F5344CB8AC3E}">
        <p14:creationId xmlns:p14="http://schemas.microsoft.com/office/powerpoint/2010/main" val="390654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B6F8A6BB-1745-4B6B-9AB7-C9D5C96A04F0}" type="datetime1">
              <a:rPr lang="en-US" smtClean="0"/>
              <a:t>11/5/2025</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A99160C-D4EA-4527-887A-60DA6E3DBCEB}" type="slidenum">
              <a:rPr lang="en-US" smtClean="0"/>
              <a:pPr/>
              <a:t>‹#›</a:t>
            </a:fld>
            <a:endParaRPr lang="en-US"/>
          </a:p>
        </p:txBody>
      </p:sp>
    </p:spTree>
    <p:extLst>
      <p:ext uri="{BB962C8B-B14F-4D97-AF65-F5344CB8AC3E}">
        <p14:creationId xmlns:p14="http://schemas.microsoft.com/office/powerpoint/2010/main" val="410548556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679" r:id="rId13"/>
  </p:sldLayoutIdLst>
  <p:hf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1670" y="1395414"/>
            <a:ext cx="9068586" cy="2590800"/>
          </a:xfrm>
        </p:spPr>
        <p:txBody>
          <a:bodyPr>
            <a:normAutofit/>
          </a:bodyPr>
          <a:lstStyle/>
          <a:p>
            <a:r>
              <a:rPr sz="4400" dirty="0"/>
              <a:t>Professional Practices</a:t>
            </a:r>
          </a:p>
          <a:p>
            <a:r>
              <a:rPr sz="4400" dirty="0"/>
              <a:t>Cyber Ethics &amp; Cybercrime</a:t>
            </a:r>
          </a:p>
        </p:txBody>
      </p:sp>
      <p:sp>
        <p:nvSpPr>
          <p:cNvPr id="3" name="Subtitle 2"/>
          <p:cNvSpPr>
            <a:spLocks noGrp="1"/>
          </p:cNvSpPr>
          <p:nvPr>
            <p:ph type="subTitle" idx="1"/>
          </p:nvPr>
        </p:nvSpPr>
        <p:spPr>
          <a:xfrm>
            <a:off x="1560576" y="3571877"/>
            <a:ext cx="9070848" cy="1153050"/>
          </a:xfrm>
        </p:spPr>
        <p:txBody>
          <a:bodyPr>
            <a:normAutofit/>
          </a:bodyPr>
          <a:lstStyle/>
          <a:p>
            <a:r>
              <a:rPr dirty="0"/>
              <a:t>Hacking | Fraud | Scams | Law &amp; Order | Sociotechnical Security</a:t>
            </a:r>
            <a:r>
              <a:rPr lang="en-US" dirty="0"/>
              <a:t> | Computer Crime and Cyber Laws </a:t>
            </a:r>
            <a:endParaRPr dirty="0"/>
          </a:p>
        </p:txBody>
      </p:sp>
      <p:sp>
        <p:nvSpPr>
          <p:cNvPr id="4" name="Rectangle 3">
            <a:extLst>
              <a:ext uri="{FF2B5EF4-FFF2-40B4-BE49-F238E27FC236}">
                <a16:creationId xmlns:a16="http://schemas.microsoft.com/office/drawing/2014/main" id="{EC55D470-618D-40B6-A2A3-4E54C028B1E5}"/>
              </a:ext>
            </a:extLst>
          </p:cNvPr>
          <p:cNvSpPr/>
          <p:nvPr/>
        </p:nvSpPr>
        <p:spPr>
          <a:xfrm>
            <a:off x="5750424" y="4446923"/>
            <a:ext cx="4881000" cy="1015663"/>
          </a:xfrm>
          <a:prstGeom prst="rect">
            <a:avLst/>
          </a:prstGeom>
          <a:noFill/>
        </p:spPr>
        <p:txBody>
          <a:bodyPr wrap="square" lIns="91440" tIns="45720" rIns="91440" bIns="45720">
            <a:spAutoFit/>
          </a:bodyPr>
          <a:lstStyle/>
          <a:p>
            <a:pPr algn="r"/>
            <a:r>
              <a:rPr lang="en-US" sz="2000" b="1" dirty="0">
                <a:ln w="22225">
                  <a:solidFill>
                    <a:schemeClr val="accent2"/>
                  </a:solidFill>
                  <a:prstDash val="solid"/>
                </a:ln>
                <a:solidFill>
                  <a:schemeClr val="accent2">
                    <a:lumMod val="40000"/>
                    <a:lumOff val="60000"/>
                  </a:schemeClr>
                </a:solidFill>
              </a:rPr>
              <a:t>Presented by Maham Noor </a:t>
            </a:r>
          </a:p>
          <a:p>
            <a:pPr algn="r"/>
            <a:r>
              <a:rPr lang="en-US" sz="2000" b="1" cap="none" spc="0" dirty="0">
                <a:ln w="22225">
                  <a:solidFill>
                    <a:schemeClr val="accent2"/>
                  </a:solidFill>
                  <a:prstDash val="solid"/>
                </a:ln>
                <a:solidFill>
                  <a:schemeClr val="accent2">
                    <a:lumMod val="40000"/>
                    <a:lumOff val="60000"/>
                  </a:schemeClr>
                </a:solidFill>
                <a:effectLst/>
              </a:rPr>
              <a:t>Lecturer </a:t>
            </a:r>
          </a:p>
          <a:p>
            <a:pPr algn="r"/>
            <a:r>
              <a:rPr lang="en-US" sz="2000" b="1" dirty="0">
                <a:ln w="22225">
                  <a:solidFill>
                    <a:schemeClr val="accent2"/>
                  </a:solidFill>
                  <a:prstDash val="solid"/>
                </a:ln>
                <a:solidFill>
                  <a:schemeClr val="accent2">
                    <a:lumMod val="40000"/>
                    <a:lumOff val="60000"/>
                  </a:schemeClr>
                </a:solidFill>
              </a:rPr>
              <a:t>University of Central Punjab</a:t>
            </a:r>
            <a:endParaRPr lang="en-US" sz="2000" b="1" cap="none" spc="0" dirty="0">
              <a:ln w="22225">
                <a:solidFill>
                  <a:schemeClr val="accent2"/>
                </a:solidFill>
                <a:prstDash val="solid"/>
              </a:ln>
              <a:solidFill>
                <a:schemeClr val="accent2">
                  <a:lumMod val="40000"/>
                  <a:lumOff val="60000"/>
                </a:schemeClr>
              </a:solidFill>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3923760-33A9-4E60-9239-1EDA0D4F8432}"/>
              </a:ext>
            </a:extLst>
          </p:cNvPr>
          <p:cNvSpPr>
            <a:spLocks noGrp="1"/>
          </p:cNvSpPr>
          <p:nvPr>
            <p:ph type="sldNum" sz="quarter" idx="12"/>
          </p:nvPr>
        </p:nvSpPr>
        <p:spPr/>
        <p:txBody>
          <a:bodyPr/>
          <a:lstStyle/>
          <a:p>
            <a:fld id="{FA99160C-D4EA-4527-887A-60DA6E3DBCEB}" type="slidenum">
              <a:rPr lang="en-US" smtClean="0"/>
              <a:pPr/>
              <a:t>2</a:t>
            </a:fld>
            <a:endParaRPr lang="en-US"/>
          </a:p>
        </p:txBody>
      </p:sp>
      <p:graphicFrame>
        <p:nvGraphicFramePr>
          <p:cNvPr id="9" name="Table 9">
            <a:extLst>
              <a:ext uri="{FF2B5EF4-FFF2-40B4-BE49-F238E27FC236}">
                <a16:creationId xmlns:a16="http://schemas.microsoft.com/office/drawing/2014/main" id="{DCAF735B-3F3F-4BA1-AC39-AECA1F7E63ED}"/>
              </a:ext>
            </a:extLst>
          </p:cNvPr>
          <p:cNvGraphicFramePr>
            <a:graphicFrameLocks noGrp="1"/>
          </p:cNvGraphicFramePr>
          <p:nvPr>
            <p:extLst>
              <p:ext uri="{D42A27DB-BD31-4B8C-83A1-F6EECF244321}">
                <p14:modId xmlns:p14="http://schemas.microsoft.com/office/powerpoint/2010/main" val="3845926077"/>
              </p:ext>
            </p:extLst>
          </p:nvPr>
        </p:nvGraphicFramePr>
        <p:xfrm>
          <a:off x="2218531" y="1070148"/>
          <a:ext cx="8554244" cy="4717703"/>
        </p:xfrm>
        <a:graphic>
          <a:graphicData uri="http://schemas.openxmlformats.org/drawingml/2006/table">
            <a:tbl>
              <a:tblPr firstRow="1" bandRow="1">
                <a:tableStyleId>{5C22544A-7EE6-4342-B048-85BDC9FD1C3A}</a:tableStyleId>
              </a:tblPr>
              <a:tblGrid>
                <a:gridCol w="4971167">
                  <a:extLst>
                    <a:ext uri="{9D8B030D-6E8A-4147-A177-3AD203B41FA5}">
                      <a16:colId xmlns:a16="http://schemas.microsoft.com/office/drawing/2014/main" val="1877517241"/>
                    </a:ext>
                  </a:extLst>
                </a:gridCol>
                <a:gridCol w="1631580">
                  <a:extLst>
                    <a:ext uri="{9D8B030D-6E8A-4147-A177-3AD203B41FA5}">
                      <a16:colId xmlns:a16="http://schemas.microsoft.com/office/drawing/2014/main" val="1950981553"/>
                    </a:ext>
                  </a:extLst>
                </a:gridCol>
                <a:gridCol w="1951497">
                  <a:extLst>
                    <a:ext uri="{9D8B030D-6E8A-4147-A177-3AD203B41FA5}">
                      <a16:colId xmlns:a16="http://schemas.microsoft.com/office/drawing/2014/main" val="1509945947"/>
                    </a:ext>
                  </a:extLst>
                </a:gridCol>
              </a:tblGrid>
              <a:tr h="511463">
                <a:tc>
                  <a:txBody>
                    <a:bodyPr/>
                    <a:lstStyle/>
                    <a:p>
                      <a:r>
                        <a:rPr lang="en-US" sz="1800" dirty="0"/>
                        <a:t>Content of this week </a:t>
                      </a:r>
                      <a:endParaRPr lang="en-PK" sz="1800" dirty="0"/>
                    </a:p>
                  </a:txBody>
                  <a:tcPr/>
                </a:tc>
                <a:tc>
                  <a:txBody>
                    <a:bodyPr/>
                    <a:lstStyle/>
                    <a:p>
                      <a:r>
                        <a:rPr lang="en-US" dirty="0"/>
                        <a:t>CLO </a:t>
                      </a:r>
                      <a:endParaRPr lang="en-PK" dirty="0"/>
                    </a:p>
                  </a:txBody>
                  <a:tcPr/>
                </a:tc>
                <a:tc>
                  <a:txBody>
                    <a:bodyPr/>
                    <a:lstStyle/>
                    <a:p>
                      <a:r>
                        <a:rPr lang="en-US" dirty="0"/>
                        <a:t>Week </a:t>
                      </a:r>
                      <a:endParaRPr lang="en-PK" dirty="0"/>
                    </a:p>
                  </a:txBody>
                  <a:tcPr/>
                </a:tc>
                <a:extLst>
                  <a:ext uri="{0D108BD9-81ED-4DB2-BD59-A6C34878D82A}">
                    <a16:rowId xmlns:a16="http://schemas.microsoft.com/office/drawing/2014/main" val="1287578605"/>
                  </a:ext>
                </a:extLst>
              </a:tr>
              <a:tr h="2143941">
                <a:tc>
                  <a:txBody>
                    <a:bodyPr/>
                    <a:lstStyle/>
                    <a:p>
                      <a:pPr marL="228600" indent="-228600" algn="l">
                        <a:buFont typeface="+mj-lt"/>
                        <a:buAutoNum type="arabicPeriod"/>
                        <a:tabLst>
                          <a:tab pos="457200" algn="l"/>
                          <a:tab pos="914400" algn="l"/>
                          <a:tab pos="1371600" algn="l"/>
                        </a:tabLst>
                      </a:pPr>
                      <a:r>
                        <a:rPr lang="en-US" sz="1800" dirty="0">
                          <a:effectLst/>
                        </a:rPr>
                        <a:t>Computer and Internet Crime</a:t>
                      </a:r>
                      <a:endParaRPr lang="en-PK" sz="1800" dirty="0">
                        <a:effectLst/>
                      </a:endParaRPr>
                    </a:p>
                    <a:p>
                      <a:pPr marL="228600" indent="-228600" algn="l">
                        <a:buFont typeface="+mj-lt"/>
                        <a:buAutoNum type="arabicPeriod"/>
                        <a:tabLst>
                          <a:tab pos="457200" algn="l"/>
                          <a:tab pos="914400" algn="l"/>
                          <a:tab pos="1371600" algn="l"/>
                        </a:tabLst>
                      </a:pPr>
                      <a:r>
                        <a:rPr lang="en-US" sz="1800" dirty="0">
                          <a:effectLst/>
                        </a:rPr>
                        <a:t>Hacking and the Hacker Ethics, Theft and Credit Card Fraud, Scams &amp; Forgery,  Law and Order on the Internet</a:t>
                      </a:r>
                      <a:endParaRPr lang="en-PK" sz="1800" dirty="0">
                        <a:effectLst/>
                      </a:endParaRPr>
                    </a:p>
                    <a:p>
                      <a:pPr marL="228600" indent="-228600" algn="l">
                        <a:buFont typeface="+mj-lt"/>
                        <a:buAutoNum type="arabicPeriod"/>
                        <a:tabLst>
                          <a:tab pos="457200" algn="l"/>
                          <a:tab pos="914400" algn="l"/>
                          <a:tab pos="1371600" algn="l"/>
                        </a:tabLst>
                      </a:pPr>
                      <a:r>
                        <a:rPr lang="en-US" sz="1800" dirty="0">
                          <a:effectLst/>
                        </a:rPr>
                        <a:t>Sociotechnical Order</a:t>
                      </a:r>
                      <a:endParaRPr lang="en-PK" sz="1800" dirty="0">
                        <a:effectLst/>
                      </a:endParaRPr>
                    </a:p>
                    <a:p>
                      <a:pPr marL="228600" indent="-228600" algn="l">
                        <a:buFont typeface="+mj-lt"/>
                        <a:buAutoNum type="arabicPeriod"/>
                        <a:tabLst>
                          <a:tab pos="457200" algn="l"/>
                          <a:tab pos="914400" algn="l"/>
                          <a:tab pos="1371600" algn="l"/>
                        </a:tabLst>
                      </a:pPr>
                      <a:r>
                        <a:rPr lang="en-US" sz="1800" dirty="0">
                          <a:effectLst/>
                        </a:rPr>
                        <a:t>Sociotechnical Security</a:t>
                      </a:r>
                      <a:endParaRPr lang="en-PK" sz="1800" dirty="0">
                        <a:effectLst/>
                      </a:endParaRPr>
                    </a:p>
                    <a:p>
                      <a:pPr marL="228600" indent="-228600" algn="l">
                        <a:buFont typeface="+mj-lt"/>
                        <a:buAutoNum type="arabicPeriod"/>
                      </a:pPr>
                      <a:r>
                        <a:rPr lang="en-US" sz="1800" dirty="0">
                          <a:effectLst/>
                        </a:rPr>
                        <a:t> Example cases from Pakistan on Hacking, scams and Forgery etc. </a:t>
                      </a:r>
                      <a:endParaRPr lang="en-PK" sz="1800" dirty="0">
                        <a:effectLst/>
                      </a:endParaRPr>
                    </a:p>
                  </a:txBody>
                  <a:tcPr/>
                </a:tc>
                <a:tc rowSpan="2">
                  <a:txBody>
                    <a:bodyPr/>
                    <a:lstStyle/>
                    <a:p>
                      <a:r>
                        <a:rPr lang="en-US" dirty="0"/>
                        <a:t>2</a:t>
                      </a:r>
                      <a:endParaRPr lang="en-PK" dirty="0"/>
                    </a:p>
                  </a:txBody>
                  <a:tcPr/>
                </a:tc>
                <a:tc rowSpan="2">
                  <a:txBody>
                    <a:bodyPr/>
                    <a:lstStyle/>
                    <a:p>
                      <a:r>
                        <a:rPr lang="en-US" dirty="0"/>
                        <a:t>6</a:t>
                      </a:r>
                      <a:endParaRPr lang="en-PK" dirty="0"/>
                    </a:p>
                  </a:txBody>
                  <a:tcPr/>
                </a:tc>
                <a:extLst>
                  <a:ext uri="{0D108BD9-81ED-4DB2-BD59-A6C34878D82A}">
                    <a16:rowId xmlns:a16="http://schemas.microsoft.com/office/drawing/2014/main" val="2786368830"/>
                  </a:ext>
                </a:extLst>
              </a:tr>
              <a:tr h="1513370">
                <a:tc>
                  <a:txBody>
                    <a:bodyPr/>
                    <a:lstStyle/>
                    <a:p>
                      <a:pPr marL="228600" indent="-228600" algn="l">
                        <a:buFont typeface="+mj-lt"/>
                        <a:buAutoNum type="arabicPeriod"/>
                      </a:pPr>
                      <a:r>
                        <a:rPr lang="en-US" sz="1800" dirty="0">
                          <a:effectLst/>
                        </a:rPr>
                        <a:t>Cyber laws of Pakistan</a:t>
                      </a:r>
                      <a:endParaRPr lang="en-PK" sz="1800" dirty="0">
                        <a:effectLst/>
                      </a:endParaRPr>
                    </a:p>
                    <a:p>
                      <a:pPr marL="228600" indent="-228600" algn="l">
                        <a:buFont typeface="+mj-lt"/>
                        <a:buAutoNum type="arabicPeriod"/>
                      </a:pPr>
                      <a:r>
                        <a:rPr lang="en-US" sz="1800" dirty="0">
                          <a:effectLst/>
                        </a:rPr>
                        <a:t>What initiatives Pakistan has taken to control cyber crime</a:t>
                      </a:r>
                      <a:endParaRPr lang="en-PK" sz="1800" dirty="0">
                        <a:effectLst/>
                      </a:endParaRPr>
                    </a:p>
                    <a:p>
                      <a:pPr marL="228600" indent="-228600" algn="l">
                        <a:buFont typeface="+mj-lt"/>
                        <a:buAutoNum type="arabicPeriod"/>
                        <a:tabLst>
                          <a:tab pos="457200" algn="l"/>
                          <a:tab pos="914400" algn="l"/>
                          <a:tab pos="1371600" algn="l"/>
                        </a:tabLst>
                      </a:pPr>
                      <a:r>
                        <a:rPr lang="en-US" sz="1800" dirty="0">
                          <a:effectLst/>
                        </a:rPr>
                        <a:t>National Response Center for cybercrime and its responsibilities </a:t>
                      </a:r>
                      <a:endParaRPr lang="en-PK" sz="1800" dirty="0">
                        <a:effectLst/>
                      </a:endParaRPr>
                    </a:p>
                    <a:p>
                      <a:pPr marL="228600" indent="-228600" algn="l">
                        <a:buFont typeface="+mj-lt"/>
                        <a:buAutoNum type="arabicPeriod"/>
                        <a:tabLst>
                          <a:tab pos="457200" algn="l"/>
                          <a:tab pos="914400" algn="l"/>
                          <a:tab pos="1371600" algn="l"/>
                        </a:tabLst>
                      </a:pPr>
                      <a:r>
                        <a:rPr lang="en-US" sz="1800" dirty="0">
                          <a:effectLst/>
                        </a:rPr>
                        <a:t>Activity: Cyber ethics and law in action Role Play</a:t>
                      </a:r>
                      <a:endParaRPr lang="en-PK" sz="1800" dirty="0">
                        <a:effectLst/>
                      </a:endParaRPr>
                    </a:p>
                  </a:txBody>
                  <a:tcPr marL="68580" marR="68580" marT="0" marB="0"/>
                </a:tc>
                <a:tc vMerge="1">
                  <a:txBody>
                    <a:bodyPr/>
                    <a:lstStyle/>
                    <a:p>
                      <a:endParaRPr lang="en-PK" dirty="0"/>
                    </a:p>
                  </a:txBody>
                  <a:tcPr/>
                </a:tc>
                <a:tc vMerge="1">
                  <a:txBody>
                    <a:bodyPr/>
                    <a:lstStyle/>
                    <a:p>
                      <a:endParaRPr lang="en-PK" dirty="0"/>
                    </a:p>
                  </a:txBody>
                  <a:tcPr/>
                </a:tc>
                <a:extLst>
                  <a:ext uri="{0D108BD9-81ED-4DB2-BD59-A6C34878D82A}">
                    <a16:rowId xmlns:a16="http://schemas.microsoft.com/office/drawing/2014/main" val="3984518488"/>
                  </a:ext>
                </a:extLst>
              </a:tr>
            </a:tbl>
          </a:graphicData>
        </a:graphic>
      </p:graphicFrame>
    </p:spTree>
    <p:extLst>
      <p:ext uri="{BB962C8B-B14F-4D97-AF65-F5344CB8AC3E}">
        <p14:creationId xmlns:p14="http://schemas.microsoft.com/office/powerpoint/2010/main" val="4033238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400777-5CE5-461D-8B5E-657E8C93CBC7}"/>
              </a:ext>
            </a:extLst>
          </p:cNvPr>
          <p:cNvSpPr>
            <a:spLocks noGrp="1"/>
          </p:cNvSpPr>
          <p:nvPr>
            <p:ph type="ctrTitle"/>
          </p:nvPr>
        </p:nvSpPr>
        <p:spPr/>
        <p:txBody>
          <a:bodyPr/>
          <a:lstStyle/>
          <a:p>
            <a:r>
              <a:rPr lang="en-US" dirty="0"/>
              <a:t>Hacking</a:t>
            </a:r>
            <a:endParaRPr lang="en-PK" dirty="0"/>
          </a:p>
        </p:txBody>
      </p:sp>
      <p:sp>
        <p:nvSpPr>
          <p:cNvPr id="4" name="Slide Number Placeholder 3">
            <a:extLst>
              <a:ext uri="{FF2B5EF4-FFF2-40B4-BE49-F238E27FC236}">
                <a16:creationId xmlns:a16="http://schemas.microsoft.com/office/drawing/2014/main" id="{944DC9C8-5DA2-46B0-A4BF-03D1905116A7}"/>
              </a:ext>
            </a:extLst>
          </p:cNvPr>
          <p:cNvSpPr>
            <a:spLocks noGrp="1"/>
          </p:cNvSpPr>
          <p:nvPr>
            <p:ph type="sldNum" sz="quarter" idx="12"/>
          </p:nvPr>
        </p:nvSpPr>
        <p:spPr/>
        <p:txBody>
          <a:bodyPr/>
          <a:lstStyle/>
          <a:p>
            <a:fld id="{FA99160C-D4EA-4527-887A-60DA6E3DBCEB}" type="slidenum">
              <a:rPr lang="en-US" smtClean="0"/>
              <a:pPr/>
              <a:t>3</a:t>
            </a:fld>
            <a:endParaRPr lang="en-US"/>
          </a:p>
        </p:txBody>
      </p:sp>
    </p:spTree>
    <p:extLst>
      <p:ext uri="{BB962C8B-B14F-4D97-AF65-F5344CB8AC3E}">
        <p14:creationId xmlns:p14="http://schemas.microsoft.com/office/powerpoint/2010/main" val="2871628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1"/>
                </a:solidFill>
              </a:rPr>
              <a:t>Hacking</a:t>
            </a:r>
          </a:p>
        </p:txBody>
      </p:sp>
      <p:sp>
        <p:nvSpPr>
          <p:cNvPr id="3" name="Content Placeholder 2"/>
          <p:cNvSpPr>
            <a:spLocks noGrp="1"/>
          </p:cNvSpPr>
          <p:nvPr>
            <p:ph idx="1"/>
          </p:nvPr>
        </p:nvSpPr>
        <p:spPr>
          <a:xfrm>
            <a:off x="1066800" y="2257426"/>
            <a:ext cx="10058400" cy="3777614"/>
          </a:xfrm>
        </p:spPr>
        <p:txBody>
          <a:bodyPr>
            <a:normAutofit/>
          </a:bodyPr>
          <a:lstStyle/>
          <a:p>
            <a:pPr>
              <a:defRPr sz="2000"/>
            </a:pPr>
            <a:r>
              <a:rPr lang="en-US" b="1" dirty="0"/>
              <a:t>Hacking</a:t>
            </a:r>
            <a:r>
              <a:rPr lang="en-US" dirty="0"/>
              <a:t> is the act of gaining unauthorized access to a computer system, network, or digital device</a:t>
            </a:r>
          </a:p>
          <a:p>
            <a:pPr>
              <a:defRPr sz="2000"/>
            </a:pPr>
            <a:r>
              <a:rPr lang="en-US" b="1" dirty="0"/>
              <a:t>Example:</a:t>
            </a:r>
          </a:p>
          <a:p>
            <a:pPr>
              <a:defRPr sz="2000"/>
            </a:pPr>
            <a:r>
              <a:rPr lang="en-US" dirty="0"/>
              <a:t>In 2019, a group of Pakistani hackers allegedly carried out cyberattacks on several Indian banks, stealing data from credit cards and online banking systems. The attackers reportedly sold the stolen information on the dark web — an online black market where illegal data is traded.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31D98-889A-4AF8-A3F5-ED4C9AA44D88}"/>
              </a:ext>
            </a:extLst>
          </p:cNvPr>
          <p:cNvSpPr>
            <a:spLocks noGrp="1"/>
          </p:cNvSpPr>
          <p:nvPr>
            <p:ph type="title"/>
          </p:nvPr>
        </p:nvSpPr>
        <p:spPr/>
        <p:txBody>
          <a:bodyPr>
            <a:normAutofit fontScale="90000"/>
          </a:bodyPr>
          <a:lstStyle/>
          <a:p>
            <a:r>
              <a:rPr lang="en-US" b="1" dirty="0"/>
              <a:t>Types of Hacking</a:t>
            </a:r>
            <a:br>
              <a:rPr lang="en-US" b="1" dirty="0"/>
            </a:br>
            <a:endParaRPr lang="en-PK" dirty="0"/>
          </a:p>
        </p:txBody>
      </p:sp>
      <p:sp>
        <p:nvSpPr>
          <p:cNvPr id="3" name="Content Placeholder 2">
            <a:extLst>
              <a:ext uri="{FF2B5EF4-FFF2-40B4-BE49-F238E27FC236}">
                <a16:creationId xmlns:a16="http://schemas.microsoft.com/office/drawing/2014/main" id="{AE870765-614D-4D5B-917C-D9281F255413}"/>
              </a:ext>
            </a:extLst>
          </p:cNvPr>
          <p:cNvSpPr>
            <a:spLocks noGrp="1"/>
          </p:cNvSpPr>
          <p:nvPr>
            <p:ph idx="1"/>
          </p:nvPr>
        </p:nvSpPr>
        <p:spPr/>
        <p:txBody>
          <a:bodyPr/>
          <a:lstStyle/>
          <a:p>
            <a:pPr>
              <a:buFont typeface="+mj-lt"/>
              <a:buAutoNum type="arabicPeriod"/>
            </a:pPr>
            <a:r>
              <a:rPr lang="en-US" b="1" dirty="0"/>
              <a:t>Ethical Hacking (White Hat)</a:t>
            </a:r>
          </a:p>
          <a:p>
            <a:pPr marL="0" indent="0">
              <a:buNone/>
            </a:pPr>
            <a:r>
              <a:rPr lang="en-US" dirty="0"/>
              <a:t>Done legally with permission to find and fix security flaws.</a:t>
            </a:r>
          </a:p>
          <a:p>
            <a:pPr marL="0" indent="0">
              <a:buNone/>
            </a:pPr>
            <a:r>
              <a:rPr lang="en-US" dirty="0">
                <a:solidFill>
                  <a:schemeClr val="tx2">
                    <a:lumMod val="50000"/>
                  </a:schemeClr>
                </a:solidFill>
              </a:rPr>
              <a:t>Example</a:t>
            </a:r>
            <a:r>
              <a:rPr lang="en-US" dirty="0"/>
              <a:t>: Cybersecurity experts testing a company’s system.</a:t>
            </a:r>
          </a:p>
          <a:p>
            <a:pPr marL="0" indent="0">
              <a:buNone/>
            </a:pPr>
            <a:r>
              <a:rPr lang="en-US" b="1" dirty="0"/>
              <a:t>2. Black Hat Hacking</a:t>
            </a:r>
            <a:br>
              <a:rPr lang="en-US" dirty="0"/>
            </a:br>
            <a:r>
              <a:rPr lang="en-US" dirty="0"/>
              <a:t>Illegal hacking for personal gain or harm — such as stealing data, spreading viruses, or crashing systems.</a:t>
            </a:r>
          </a:p>
          <a:p>
            <a:pPr>
              <a:buFont typeface="+mj-lt"/>
              <a:buAutoNum type="arabicPeriod"/>
            </a:pPr>
            <a:r>
              <a:rPr lang="en-US" b="1" dirty="0"/>
              <a:t>Grey Hat Hacking</a:t>
            </a:r>
            <a:br>
              <a:rPr lang="en-US" dirty="0"/>
            </a:br>
            <a:r>
              <a:rPr lang="en-US" dirty="0"/>
              <a:t>Hackers who break into systems without permission but don’t intend harm — they might expose flaws to the company or public.</a:t>
            </a:r>
          </a:p>
          <a:p>
            <a:endParaRPr lang="en-PK" dirty="0"/>
          </a:p>
        </p:txBody>
      </p:sp>
      <p:sp>
        <p:nvSpPr>
          <p:cNvPr id="4" name="Slide Number Placeholder 3">
            <a:extLst>
              <a:ext uri="{FF2B5EF4-FFF2-40B4-BE49-F238E27FC236}">
                <a16:creationId xmlns:a16="http://schemas.microsoft.com/office/drawing/2014/main" id="{931A966E-B706-4017-A9F1-B9316D524A30}"/>
              </a:ext>
            </a:extLst>
          </p:cNvPr>
          <p:cNvSpPr>
            <a:spLocks noGrp="1"/>
          </p:cNvSpPr>
          <p:nvPr>
            <p:ph type="sldNum" sz="quarter" idx="12"/>
          </p:nvPr>
        </p:nvSpPr>
        <p:spPr/>
        <p:txBody>
          <a:bodyPr/>
          <a:lstStyle/>
          <a:p>
            <a:fld id="{FA99160C-D4EA-4527-887A-60DA6E3DBCEB}" type="slidenum">
              <a:rPr lang="en-US" smtClean="0"/>
              <a:pPr/>
              <a:t>5</a:t>
            </a:fld>
            <a:endParaRPr lang="en-US"/>
          </a:p>
        </p:txBody>
      </p:sp>
    </p:spTree>
    <p:extLst>
      <p:ext uri="{BB962C8B-B14F-4D97-AF65-F5344CB8AC3E}">
        <p14:creationId xmlns:p14="http://schemas.microsoft.com/office/powerpoint/2010/main" val="1833483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684F7-770A-4EF1-904A-34FDFF935E60}"/>
              </a:ext>
            </a:extLst>
          </p:cNvPr>
          <p:cNvSpPr>
            <a:spLocks noGrp="1"/>
          </p:cNvSpPr>
          <p:nvPr>
            <p:ph type="title"/>
          </p:nvPr>
        </p:nvSpPr>
        <p:spPr/>
        <p:txBody>
          <a:bodyPr>
            <a:normAutofit/>
          </a:bodyPr>
          <a:lstStyle/>
          <a:p>
            <a:r>
              <a:rPr lang="en-US" b="1" dirty="0"/>
              <a:t>Common Hacking Techniques</a:t>
            </a:r>
            <a:endParaRPr lang="en-PK" dirty="0"/>
          </a:p>
        </p:txBody>
      </p:sp>
      <p:sp>
        <p:nvSpPr>
          <p:cNvPr id="3" name="Content Placeholder 2">
            <a:extLst>
              <a:ext uri="{FF2B5EF4-FFF2-40B4-BE49-F238E27FC236}">
                <a16:creationId xmlns:a16="http://schemas.microsoft.com/office/drawing/2014/main" id="{240B37D2-4684-4444-990A-18A3023AD4B6}"/>
              </a:ext>
            </a:extLst>
          </p:cNvPr>
          <p:cNvSpPr>
            <a:spLocks noGrp="1"/>
          </p:cNvSpPr>
          <p:nvPr>
            <p:ph idx="1"/>
          </p:nvPr>
        </p:nvSpPr>
        <p:spPr/>
        <p:txBody>
          <a:bodyPr/>
          <a:lstStyle/>
          <a:p>
            <a:pPr>
              <a:buFont typeface="Arial" panose="020B0604020202020204" pitchFamily="34" charset="0"/>
              <a:buChar char="•"/>
            </a:pPr>
            <a:r>
              <a:rPr lang="en-US" b="1" dirty="0"/>
              <a:t>Phishing:</a:t>
            </a:r>
            <a:r>
              <a:rPr lang="en-US" dirty="0"/>
              <a:t> Tricking users into giving personal information (like passwords).</a:t>
            </a:r>
          </a:p>
          <a:p>
            <a:pPr>
              <a:buFont typeface="Arial" panose="020B0604020202020204" pitchFamily="34" charset="0"/>
              <a:buChar char="•"/>
            </a:pPr>
            <a:r>
              <a:rPr lang="en-US" b="1" dirty="0"/>
              <a:t>Malware:</a:t>
            </a:r>
            <a:r>
              <a:rPr lang="en-US" dirty="0"/>
              <a:t> Inserting malicious software (viruses, worms, ransomware).</a:t>
            </a:r>
          </a:p>
          <a:p>
            <a:pPr>
              <a:buFont typeface="Arial" panose="020B0604020202020204" pitchFamily="34" charset="0"/>
              <a:buChar char="•"/>
            </a:pPr>
            <a:r>
              <a:rPr lang="en-US" b="1" dirty="0"/>
              <a:t>SQL Injection:</a:t>
            </a:r>
            <a:r>
              <a:rPr lang="en-US" dirty="0"/>
              <a:t> Exploiting database vulnerabilities.</a:t>
            </a:r>
          </a:p>
          <a:p>
            <a:pPr>
              <a:buFont typeface="Arial" panose="020B0604020202020204" pitchFamily="34" charset="0"/>
              <a:buChar char="•"/>
            </a:pPr>
            <a:r>
              <a:rPr lang="en-US" b="1" dirty="0"/>
              <a:t>Denial of Service (DoS):</a:t>
            </a:r>
            <a:r>
              <a:rPr lang="en-US" dirty="0"/>
              <a:t> Overloading a system to make it unavailable.</a:t>
            </a:r>
          </a:p>
          <a:p>
            <a:pPr>
              <a:buFont typeface="Arial" panose="020B0604020202020204" pitchFamily="34" charset="0"/>
              <a:buChar char="•"/>
            </a:pPr>
            <a:r>
              <a:rPr lang="en-US" b="1" dirty="0"/>
              <a:t>Password Cracking:</a:t>
            </a:r>
            <a:r>
              <a:rPr lang="en-US" dirty="0"/>
              <a:t> Guessing or stealing passwords.</a:t>
            </a:r>
          </a:p>
          <a:p>
            <a:endParaRPr lang="en-PK" dirty="0"/>
          </a:p>
        </p:txBody>
      </p:sp>
      <p:sp>
        <p:nvSpPr>
          <p:cNvPr id="4" name="Slide Number Placeholder 3">
            <a:extLst>
              <a:ext uri="{FF2B5EF4-FFF2-40B4-BE49-F238E27FC236}">
                <a16:creationId xmlns:a16="http://schemas.microsoft.com/office/drawing/2014/main" id="{FABD09FA-98AB-49EF-B266-A9BC402F5BD0}"/>
              </a:ext>
            </a:extLst>
          </p:cNvPr>
          <p:cNvSpPr>
            <a:spLocks noGrp="1"/>
          </p:cNvSpPr>
          <p:nvPr>
            <p:ph type="sldNum" sz="quarter" idx="12"/>
          </p:nvPr>
        </p:nvSpPr>
        <p:spPr/>
        <p:txBody>
          <a:bodyPr/>
          <a:lstStyle/>
          <a:p>
            <a:fld id="{FA99160C-D4EA-4527-887A-60DA6E3DBCEB}" type="slidenum">
              <a:rPr lang="en-US" smtClean="0"/>
              <a:pPr/>
              <a:t>6</a:t>
            </a:fld>
            <a:endParaRPr lang="en-US"/>
          </a:p>
        </p:txBody>
      </p:sp>
    </p:spTree>
    <p:extLst>
      <p:ext uri="{BB962C8B-B14F-4D97-AF65-F5344CB8AC3E}">
        <p14:creationId xmlns:p14="http://schemas.microsoft.com/office/powerpoint/2010/main" val="1273782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E8ED-FDAF-4433-A894-3718F9FACE44}"/>
              </a:ext>
            </a:extLst>
          </p:cNvPr>
          <p:cNvSpPr>
            <a:spLocks noGrp="1"/>
          </p:cNvSpPr>
          <p:nvPr>
            <p:ph type="title"/>
          </p:nvPr>
        </p:nvSpPr>
        <p:spPr/>
        <p:txBody>
          <a:bodyPr>
            <a:normAutofit/>
          </a:bodyPr>
          <a:lstStyle/>
          <a:p>
            <a:r>
              <a:rPr lang="en-US" b="1" dirty="0"/>
              <a:t>Purpose of Hacking</a:t>
            </a:r>
            <a:endParaRPr lang="en-PK" dirty="0"/>
          </a:p>
        </p:txBody>
      </p:sp>
      <p:sp>
        <p:nvSpPr>
          <p:cNvPr id="3" name="Content Placeholder 2">
            <a:extLst>
              <a:ext uri="{FF2B5EF4-FFF2-40B4-BE49-F238E27FC236}">
                <a16:creationId xmlns:a16="http://schemas.microsoft.com/office/drawing/2014/main" id="{4FC22A91-CD8D-4EF1-A43E-7AF823652CA1}"/>
              </a:ext>
            </a:extLst>
          </p:cNvPr>
          <p:cNvSpPr>
            <a:spLocks noGrp="1"/>
          </p:cNvSpPr>
          <p:nvPr>
            <p:ph idx="1"/>
          </p:nvPr>
        </p:nvSpPr>
        <p:spPr/>
        <p:txBody>
          <a:bodyPr/>
          <a:lstStyle/>
          <a:p>
            <a:pPr>
              <a:buFont typeface="Arial" panose="020B0604020202020204" pitchFamily="34" charset="0"/>
              <a:buChar char="•"/>
            </a:pPr>
            <a:r>
              <a:rPr lang="en-US" dirty="0"/>
              <a:t>To steal confidential information (like credit card data or personal files)</a:t>
            </a:r>
          </a:p>
          <a:p>
            <a:pPr>
              <a:buFont typeface="Arial" panose="020B0604020202020204" pitchFamily="34" charset="0"/>
              <a:buChar char="•"/>
            </a:pPr>
            <a:r>
              <a:rPr lang="en-US" dirty="0"/>
              <a:t>To damage or disrupt systems</a:t>
            </a:r>
          </a:p>
          <a:p>
            <a:pPr>
              <a:buFont typeface="Arial" panose="020B0604020202020204" pitchFamily="34" charset="0"/>
              <a:buChar char="•"/>
            </a:pPr>
            <a:r>
              <a:rPr lang="en-US" dirty="0"/>
              <a:t>To protest (hacktivism)</a:t>
            </a:r>
          </a:p>
          <a:p>
            <a:pPr>
              <a:buFont typeface="Arial" panose="020B0604020202020204" pitchFamily="34" charset="0"/>
              <a:buChar char="•"/>
            </a:pPr>
            <a:r>
              <a:rPr lang="en-US" dirty="0"/>
              <a:t>To test security and strengthen systems (ethical reasons)</a:t>
            </a:r>
          </a:p>
          <a:p>
            <a:endParaRPr lang="en-PK" dirty="0"/>
          </a:p>
        </p:txBody>
      </p:sp>
      <p:sp>
        <p:nvSpPr>
          <p:cNvPr id="4" name="Slide Number Placeholder 3">
            <a:extLst>
              <a:ext uri="{FF2B5EF4-FFF2-40B4-BE49-F238E27FC236}">
                <a16:creationId xmlns:a16="http://schemas.microsoft.com/office/drawing/2014/main" id="{7EB6A90A-10CC-4B4C-8245-1295650873D2}"/>
              </a:ext>
            </a:extLst>
          </p:cNvPr>
          <p:cNvSpPr>
            <a:spLocks noGrp="1"/>
          </p:cNvSpPr>
          <p:nvPr>
            <p:ph type="sldNum" sz="quarter" idx="12"/>
          </p:nvPr>
        </p:nvSpPr>
        <p:spPr/>
        <p:txBody>
          <a:bodyPr/>
          <a:lstStyle/>
          <a:p>
            <a:fld id="{FA99160C-D4EA-4527-887A-60DA6E3DBCEB}" type="slidenum">
              <a:rPr lang="en-US" smtClean="0"/>
              <a:pPr/>
              <a:t>7</a:t>
            </a:fld>
            <a:endParaRPr lang="en-US"/>
          </a:p>
        </p:txBody>
      </p:sp>
    </p:spTree>
    <p:extLst>
      <p:ext uri="{BB962C8B-B14F-4D97-AF65-F5344CB8AC3E}">
        <p14:creationId xmlns:p14="http://schemas.microsoft.com/office/powerpoint/2010/main" val="1507342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6CC3A-BEC3-441E-8380-5244EF2059BE}"/>
              </a:ext>
            </a:extLst>
          </p:cNvPr>
          <p:cNvSpPr>
            <a:spLocks noGrp="1"/>
          </p:cNvSpPr>
          <p:nvPr>
            <p:ph type="title"/>
          </p:nvPr>
        </p:nvSpPr>
        <p:spPr/>
        <p:txBody>
          <a:bodyPr/>
          <a:lstStyle/>
          <a:p>
            <a:r>
              <a:rPr lang="en-US" b="1" dirty="0"/>
              <a:t>Hacker ethics </a:t>
            </a:r>
            <a:endParaRPr lang="en-PK" b="1" dirty="0"/>
          </a:p>
        </p:txBody>
      </p:sp>
      <p:sp>
        <p:nvSpPr>
          <p:cNvPr id="3" name="Content Placeholder 2">
            <a:extLst>
              <a:ext uri="{FF2B5EF4-FFF2-40B4-BE49-F238E27FC236}">
                <a16:creationId xmlns:a16="http://schemas.microsoft.com/office/drawing/2014/main" id="{F981DC66-E0CA-4651-9796-A9B84F4598A0}"/>
              </a:ext>
            </a:extLst>
          </p:cNvPr>
          <p:cNvSpPr>
            <a:spLocks noGrp="1"/>
          </p:cNvSpPr>
          <p:nvPr>
            <p:ph idx="1"/>
          </p:nvPr>
        </p:nvSpPr>
        <p:spPr/>
        <p:txBody>
          <a:bodyPr/>
          <a:lstStyle/>
          <a:p>
            <a:r>
              <a:rPr lang="en-US" dirty="0"/>
              <a:t>Hacker ethics emphasize that hacking should be used for learning, problem-solving, and security improvement, not for crime or harm.</a:t>
            </a:r>
            <a:br>
              <a:rPr lang="en-US" dirty="0"/>
            </a:br>
            <a:r>
              <a:rPr lang="en-US" dirty="0"/>
              <a:t>It’s about being curious, responsible, and honest while using technology.</a:t>
            </a:r>
          </a:p>
          <a:p>
            <a:r>
              <a:rPr lang="en-US" b="1" dirty="0"/>
              <a:t> Example</a:t>
            </a:r>
          </a:p>
          <a:p>
            <a:r>
              <a:rPr lang="en-US" dirty="0"/>
              <a:t>A white hat hacker finds a security flaw in a bank’s website and reports it to the bank instead of stealing data — this follows hacker ethics.</a:t>
            </a:r>
          </a:p>
          <a:p>
            <a:endParaRPr lang="en-PK" dirty="0"/>
          </a:p>
        </p:txBody>
      </p:sp>
      <p:sp>
        <p:nvSpPr>
          <p:cNvPr id="4" name="Slide Number Placeholder 3">
            <a:extLst>
              <a:ext uri="{FF2B5EF4-FFF2-40B4-BE49-F238E27FC236}">
                <a16:creationId xmlns:a16="http://schemas.microsoft.com/office/drawing/2014/main" id="{5108230E-D531-4218-97DF-F1A6A551C50F}"/>
              </a:ext>
            </a:extLst>
          </p:cNvPr>
          <p:cNvSpPr>
            <a:spLocks noGrp="1"/>
          </p:cNvSpPr>
          <p:nvPr>
            <p:ph type="sldNum" sz="quarter" idx="12"/>
          </p:nvPr>
        </p:nvSpPr>
        <p:spPr/>
        <p:txBody>
          <a:bodyPr/>
          <a:lstStyle/>
          <a:p>
            <a:fld id="{FA99160C-D4EA-4527-887A-60DA6E3DBCEB}" type="slidenum">
              <a:rPr lang="en-US" smtClean="0"/>
              <a:pPr/>
              <a:t>8</a:t>
            </a:fld>
            <a:endParaRPr lang="en-US"/>
          </a:p>
        </p:txBody>
      </p:sp>
    </p:spTree>
    <p:extLst>
      <p:ext uri="{BB962C8B-B14F-4D97-AF65-F5344CB8AC3E}">
        <p14:creationId xmlns:p14="http://schemas.microsoft.com/office/powerpoint/2010/main" val="3753945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Theft &amp; Credit Card Fraud</a:t>
            </a:r>
          </a:p>
        </p:txBody>
      </p:sp>
      <p:sp>
        <p:nvSpPr>
          <p:cNvPr id="3" name="Content Placeholder 2"/>
          <p:cNvSpPr>
            <a:spLocks noGrp="1"/>
          </p:cNvSpPr>
          <p:nvPr>
            <p:ph idx="1"/>
          </p:nvPr>
        </p:nvSpPr>
        <p:spPr>
          <a:xfrm>
            <a:off x="1066800" y="2386012"/>
            <a:ext cx="10058400" cy="3649027"/>
          </a:xfrm>
        </p:spPr>
        <p:txBody>
          <a:bodyPr/>
          <a:lstStyle/>
          <a:p>
            <a:r>
              <a:rPr lang="en-US" dirty="0"/>
              <a:t>In cybersecurity, theft means stealing digital assets or information such as money, data, or identity through unauthorized access to computer systems or networks.</a:t>
            </a:r>
          </a:p>
          <a:p>
            <a:r>
              <a:rPr lang="en-US" b="1" dirty="0"/>
              <a:t>Examples:</a:t>
            </a:r>
            <a:endParaRPr lang="en-US" dirty="0"/>
          </a:p>
          <a:p>
            <a:pPr>
              <a:buFont typeface="Arial" panose="020B0604020202020204" pitchFamily="34" charset="0"/>
              <a:buChar char="•"/>
            </a:pPr>
            <a:r>
              <a:rPr lang="en-US" dirty="0"/>
              <a:t>Stealing customer data from a bank database</a:t>
            </a:r>
          </a:p>
          <a:p>
            <a:pPr>
              <a:buFont typeface="Arial" panose="020B0604020202020204" pitchFamily="34" charset="0"/>
              <a:buChar char="•"/>
            </a:pPr>
            <a:r>
              <a:rPr lang="en-US" dirty="0"/>
              <a:t>Copying confidential business information without permission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Scams &amp; Forgery</a:t>
            </a:r>
          </a:p>
        </p:txBody>
      </p:sp>
      <p:sp>
        <p:nvSpPr>
          <p:cNvPr id="3" name="Content Placeholder 2"/>
          <p:cNvSpPr>
            <a:spLocks noGrp="1"/>
          </p:cNvSpPr>
          <p:nvPr>
            <p:ph idx="1"/>
          </p:nvPr>
        </p:nvSpPr>
        <p:spPr/>
        <p:txBody>
          <a:bodyPr>
            <a:normAutofit/>
          </a:bodyPr>
          <a:lstStyle/>
          <a:p>
            <a:r>
              <a:rPr lang="en-US" dirty="0"/>
              <a:t>A scam is a fraudulent scheme or deceptive act used to trick people into giving away money, personal information, or access to accounts.</a:t>
            </a:r>
            <a:br>
              <a:rPr lang="en-US" dirty="0"/>
            </a:br>
            <a:r>
              <a:rPr lang="en-US" dirty="0"/>
              <a:t>It usually involves false promises, fake identities, or manipulative messages to gain trust.</a:t>
            </a:r>
          </a:p>
          <a:p>
            <a:r>
              <a:rPr lang="en-US" b="1" dirty="0"/>
              <a:t>Examples:</a:t>
            </a:r>
            <a:endParaRPr lang="en-US" dirty="0"/>
          </a:p>
          <a:p>
            <a:pPr>
              <a:buFont typeface="Arial" panose="020B0604020202020204" pitchFamily="34" charset="0"/>
              <a:buChar char="•"/>
            </a:pPr>
            <a:r>
              <a:rPr lang="en-US" dirty="0"/>
              <a:t>Online Shopping Scam: Fake websites offering cheap products but never delivering them.</a:t>
            </a:r>
          </a:p>
          <a:p>
            <a:pPr>
              <a:buFont typeface="Arial" panose="020B0604020202020204" pitchFamily="34" charset="0"/>
              <a:buChar char="•"/>
            </a:pPr>
            <a:r>
              <a:rPr lang="en-US" dirty="0"/>
              <a:t>Phishing Scam: Emails or texts pretending to be from a bank or company asking for passwords or credit card details.</a:t>
            </a:r>
          </a:p>
          <a:p>
            <a:pPr>
              <a:buFont typeface="Arial" panose="020B0604020202020204" pitchFamily="34" charset="0"/>
              <a:buChar char="•"/>
            </a:pPr>
            <a:r>
              <a:rPr lang="en-US" dirty="0"/>
              <a:t>Lottery or Prize Scam: Messages claiming you’ve won a prize, asking for “fees” or personal details to claim it.</a:t>
            </a:r>
          </a:p>
          <a:p>
            <a:pPr>
              <a:defRPr sz="2000"/>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Law and Order on the Internet</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Law and Order on the Internet refers to the legal rules, regulations, and enforcement mechanisms that ensure:</a:t>
            </a:r>
          </a:p>
          <a:p>
            <a:pPr>
              <a:buFont typeface="Arial" panose="020B0604020202020204" pitchFamily="34" charset="0"/>
              <a:buChar char="•"/>
            </a:pPr>
            <a:r>
              <a:rPr lang="en-US" dirty="0"/>
              <a:t>The protection of digital rights,</a:t>
            </a:r>
          </a:p>
          <a:p>
            <a:pPr>
              <a:buFont typeface="Arial" panose="020B0604020202020204" pitchFamily="34" charset="0"/>
              <a:buChar char="•"/>
            </a:pPr>
            <a:r>
              <a:rPr lang="en-US" dirty="0"/>
              <a:t>Prevention of cybercrimes,</a:t>
            </a:r>
          </a:p>
          <a:p>
            <a:pPr>
              <a:buFont typeface="Arial" panose="020B0604020202020204" pitchFamily="34" charset="0"/>
              <a:buChar char="•"/>
            </a:pPr>
            <a:r>
              <a:rPr lang="en-US" dirty="0"/>
              <a:t>Maintenance of ethical behavior online.</a:t>
            </a:r>
          </a:p>
          <a:p>
            <a:r>
              <a:rPr lang="en-US" b="1" dirty="0"/>
              <a:t>Example</a:t>
            </a:r>
          </a:p>
          <a:p>
            <a:r>
              <a:rPr lang="en-US" b="1" dirty="0"/>
              <a:t>1. Pakistan – Prevention of Electronic Crimes Act (PECA 2016)</a:t>
            </a:r>
            <a:br>
              <a:rPr lang="en-US" dirty="0"/>
            </a:br>
            <a:r>
              <a:rPr lang="en-US" dirty="0"/>
              <a:t>This law deals with cybercrimes such as hacking, harassment, identity theft, fake news, and online defamation. It gives legal powers to FIA’s Cyber Crime Wing to investigate and punish offenders.</a:t>
            </a:r>
          </a:p>
          <a:p>
            <a:r>
              <a:rPr lang="en-US" b="1" dirty="0"/>
              <a:t>2. India – Information Technology (IT) Act 2000</a:t>
            </a:r>
            <a:br>
              <a:rPr lang="en-US" dirty="0"/>
            </a:br>
            <a:r>
              <a:rPr lang="en-US" dirty="0"/>
              <a:t>Covers offenses like unauthorized system access, data theft, and cyber fraud, and gives legal recognition to digital signatures and e-documents.</a:t>
            </a:r>
          </a:p>
          <a:p>
            <a:pPr>
              <a:buFont typeface="Arial" panose="020B0604020202020204" pitchFamily="34" charset="0"/>
              <a:buChar char="•"/>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Sociotechnical Order</a:t>
            </a:r>
          </a:p>
        </p:txBody>
      </p:sp>
      <p:sp>
        <p:nvSpPr>
          <p:cNvPr id="3" name="Content Placeholder 2"/>
          <p:cNvSpPr>
            <a:spLocks noGrp="1"/>
          </p:cNvSpPr>
          <p:nvPr>
            <p:ph idx="1"/>
          </p:nvPr>
        </p:nvSpPr>
        <p:spPr/>
        <p:txBody>
          <a:bodyPr/>
          <a:lstStyle/>
          <a:p>
            <a:pPr marL="0" indent="0">
              <a:buNone/>
              <a:defRPr sz="2000"/>
            </a:pPr>
            <a:r>
              <a:rPr lang="en-US" dirty="0"/>
              <a:t>Sociotechnical Order means maintaining order and harmony between human activities and technological systems to ensure safe, efficient, and ethical use of technology.</a:t>
            </a:r>
          </a:p>
          <a:p>
            <a:pPr marL="0" indent="0">
              <a:buNone/>
              <a:defRPr sz="2000"/>
            </a:pPr>
            <a:r>
              <a:rPr lang="en-US" b="1" dirty="0"/>
              <a:t>Example </a:t>
            </a:r>
          </a:p>
          <a:p>
            <a:pPr marL="0" indent="0">
              <a:buNone/>
              <a:defRPr sz="2000"/>
            </a:pPr>
            <a:r>
              <a:rPr lang="en-US" dirty="0"/>
              <a:t>to detect hate speech, fake news, or harmful content on Facebook or other social platforms.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39DDC-65B4-4CEE-9585-3E3EB433CEEB}"/>
              </a:ext>
            </a:extLst>
          </p:cNvPr>
          <p:cNvSpPr>
            <a:spLocks noGrp="1"/>
          </p:cNvSpPr>
          <p:nvPr>
            <p:ph type="title"/>
          </p:nvPr>
        </p:nvSpPr>
        <p:spPr/>
        <p:txBody>
          <a:bodyPr>
            <a:normAutofit fontScale="90000"/>
          </a:bodyPr>
          <a:lstStyle/>
          <a:p>
            <a:r>
              <a:rPr lang="en-US" b="1" dirty="0"/>
              <a:t>Components of Sociotechnical Order</a:t>
            </a:r>
            <a:endParaRPr lang="en-PK" dirty="0"/>
          </a:p>
        </p:txBody>
      </p:sp>
      <p:sp>
        <p:nvSpPr>
          <p:cNvPr id="3" name="Content Placeholder 2">
            <a:extLst>
              <a:ext uri="{FF2B5EF4-FFF2-40B4-BE49-F238E27FC236}">
                <a16:creationId xmlns:a16="http://schemas.microsoft.com/office/drawing/2014/main" id="{27DA2DCE-6F10-4759-BF9B-F4C5857662D0}"/>
              </a:ext>
            </a:extLst>
          </p:cNvPr>
          <p:cNvSpPr>
            <a:spLocks noGrp="1"/>
          </p:cNvSpPr>
          <p:nvPr>
            <p:ph idx="1"/>
          </p:nvPr>
        </p:nvSpPr>
        <p:spPr/>
        <p:txBody>
          <a:bodyPr/>
          <a:lstStyle/>
          <a:p>
            <a:pPr>
              <a:buFont typeface="+mj-lt"/>
              <a:buAutoNum type="arabicPeriod"/>
            </a:pPr>
            <a:r>
              <a:rPr lang="en-US" b="1" dirty="0"/>
              <a:t>Social Aspect:</a:t>
            </a:r>
            <a:endParaRPr lang="en-US" dirty="0"/>
          </a:p>
          <a:p>
            <a:pPr marL="742950" lvl="1" indent="-285750">
              <a:buFont typeface="+mj-lt"/>
              <a:buAutoNum type="arabicPeriod"/>
            </a:pPr>
            <a:r>
              <a:rPr lang="en-US" dirty="0"/>
              <a:t>People, organizations, laws, culture, and ethics.</a:t>
            </a:r>
          </a:p>
          <a:p>
            <a:pPr marL="742950" lvl="1" indent="-285750">
              <a:buFont typeface="+mj-lt"/>
              <a:buAutoNum type="arabicPeriod"/>
            </a:pPr>
            <a:r>
              <a:rPr lang="en-US" dirty="0"/>
              <a:t>How users behave, communicate, and follow rules online.</a:t>
            </a:r>
          </a:p>
          <a:p>
            <a:pPr>
              <a:buFont typeface="+mj-lt"/>
              <a:buAutoNum type="arabicPeriod"/>
            </a:pPr>
            <a:r>
              <a:rPr lang="en-US" b="1" dirty="0"/>
              <a:t>Technical Aspect:</a:t>
            </a:r>
            <a:endParaRPr lang="en-US" dirty="0"/>
          </a:p>
          <a:p>
            <a:pPr marL="742950" lvl="1" indent="-285750">
              <a:buFont typeface="+mj-lt"/>
              <a:buAutoNum type="arabicPeriod"/>
            </a:pPr>
            <a:r>
              <a:rPr lang="en-US" dirty="0"/>
              <a:t>Computers, networks, software, and security systems.</a:t>
            </a:r>
          </a:p>
          <a:p>
            <a:pPr marL="742950" lvl="1" indent="-285750">
              <a:buFont typeface="+mj-lt"/>
              <a:buAutoNum type="arabicPeriod"/>
            </a:pPr>
            <a:r>
              <a:rPr lang="en-US" dirty="0"/>
              <a:t>How technology is designed, maintained, and controlled to support society’s needs.</a:t>
            </a:r>
          </a:p>
          <a:p>
            <a:endParaRPr lang="en-PK" dirty="0"/>
          </a:p>
        </p:txBody>
      </p:sp>
      <p:sp>
        <p:nvSpPr>
          <p:cNvPr id="4" name="Slide Number Placeholder 3">
            <a:extLst>
              <a:ext uri="{FF2B5EF4-FFF2-40B4-BE49-F238E27FC236}">
                <a16:creationId xmlns:a16="http://schemas.microsoft.com/office/drawing/2014/main" id="{788300A6-E3C7-416B-9044-C81AEB2EFD3E}"/>
              </a:ext>
            </a:extLst>
          </p:cNvPr>
          <p:cNvSpPr>
            <a:spLocks noGrp="1"/>
          </p:cNvSpPr>
          <p:nvPr>
            <p:ph type="sldNum" sz="quarter" idx="12"/>
          </p:nvPr>
        </p:nvSpPr>
        <p:spPr/>
        <p:txBody>
          <a:bodyPr/>
          <a:lstStyle/>
          <a:p>
            <a:fld id="{FA99160C-D4EA-4527-887A-60DA6E3DBCEB}" type="slidenum">
              <a:rPr lang="en-US" smtClean="0"/>
              <a:pPr/>
              <a:t>13</a:t>
            </a:fld>
            <a:endParaRPr lang="en-US"/>
          </a:p>
        </p:txBody>
      </p:sp>
    </p:spTree>
    <p:extLst>
      <p:ext uri="{BB962C8B-B14F-4D97-AF65-F5344CB8AC3E}">
        <p14:creationId xmlns:p14="http://schemas.microsoft.com/office/powerpoint/2010/main" val="3170729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138B581-638E-43AA-80CE-4D995D46A71A}"/>
              </a:ext>
            </a:extLst>
          </p:cNvPr>
          <p:cNvSpPr>
            <a:spLocks noGrp="1" noChangeArrowheads="1"/>
          </p:cNvSpPr>
          <p:nvPr>
            <p:ph type="ctrTitle"/>
          </p:nvPr>
        </p:nvSpPr>
        <p:spPr>
          <a:xfrm>
            <a:off x="1219201" y="1523999"/>
            <a:ext cx="9296400" cy="4373217"/>
          </a:xfrm>
        </p:spPr>
        <p:txBody>
          <a:bodyPr>
            <a:normAutofit/>
          </a:bodyPr>
          <a:lstStyle/>
          <a:p>
            <a:pPr eaLnBrk="1" hangingPunct="1"/>
            <a:r>
              <a:rPr lang="en-US" altLang="en-US" sz="4800" dirty="0"/>
              <a:t>Computer Crime/ Cyber Crime and Cyber Laws in Pakistan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3F7B9C6-9F1E-4994-9787-7F08C03A2723}"/>
              </a:ext>
            </a:extLst>
          </p:cNvPr>
          <p:cNvSpPr>
            <a:spLocks noGrp="1" noChangeArrowheads="1"/>
          </p:cNvSpPr>
          <p:nvPr>
            <p:ph type="title"/>
          </p:nvPr>
        </p:nvSpPr>
        <p:spPr>
          <a:xfrm>
            <a:off x="1362074" y="242544"/>
            <a:ext cx="10058400" cy="1371600"/>
          </a:xfrm>
        </p:spPr>
        <p:txBody>
          <a:bodyPr/>
          <a:lstStyle/>
          <a:p>
            <a:pPr eaLnBrk="1" hangingPunct="1"/>
            <a:r>
              <a:rPr lang="en-US" altLang="en-US" b="1" dirty="0"/>
              <a:t>Cyber Crime</a:t>
            </a:r>
          </a:p>
        </p:txBody>
      </p:sp>
      <p:sp>
        <p:nvSpPr>
          <p:cNvPr id="5123" name="Rectangle 3">
            <a:extLst>
              <a:ext uri="{FF2B5EF4-FFF2-40B4-BE49-F238E27FC236}">
                <a16:creationId xmlns:a16="http://schemas.microsoft.com/office/drawing/2014/main" id="{BE6398E6-76ED-4EB5-8323-235B46F8CD06}"/>
              </a:ext>
            </a:extLst>
          </p:cNvPr>
          <p:cNvSpPr>
            <a:spLocks noGrp="1" noChangeArrowheads="1"/>
          </p:cNvSpPr>
          <p:nvPr>
            <p:ph idx="1"/>
          </p:nvPr>
        </p:nvSpPr>
        <p:spPr>
          <a:xfrm>
            <a:off x="771526" y="1614144"/>
            <a:ext cx="10733085" cy="4519956"/>
          </a:xfrm>
        </p:spPr>
        <p:txBody>
          <a:bodyPr>
            <a:normAutofit/>
          </a:bodyPr>
          <a:lstStyle/>
          <a:p>
            <a:pPr eaLnBrk="1" hangingPunct="1"/>
            <a:r>
              <a:rPr lang="en-US" dirty="0"/>
              <a:t>Cyber crime refers to any illegal activity that involves a computer, network, or the internet.</a:t>
            </a:r>
            <a:br>
              <a:rPr lang="en-US" dirty="0"/>
            </a:br>
            <a:r>
              <a:rPr lang="en-US" dirty="0"/>
              <a:t>It is a crime in which computers are used as tools, targets, or both — to steal data, harm systems, or commit fraud.</a:t>
            </a:r>
            <a:r>
              <a:rPr lang="en-US" altLang="en-US" dirty="0"/>
              <a:t> </a:t>
            </a:r>
          </a:p>
          <a:p>
            <a:pPr eaLnBrk="1" hangingPunct="1"/>
            <a:r>
              <a:rPr lang="en-US" altLang="en-US" sz="3400" dirty="0"/>
              <a:t>Examples:</a:t>
            </a:r>
          </a:p>
          <a:p>
            <a:pPr lvl="1">
              <a:buNone/>
            </a:pPr>
            <a:endParaRPr lang="en-US" altLang="en-US" sz="1500" dirty="0"/>
          </a:p>
          <a:p>
            <a:pPr lvl="1"/>
            <a:r>
              <a:rPr lang="en-US" altLang="en-US" dirty="0"/>
              <a:t>E-mail account of a Federal Minister is hacked.</a:t>
            </a:r>
          </a:p>
          <a:p>
            <a:pPr lvl="1"/>
            <a:r>
              <a:rPr lang="en-US" altLang="en-US" dirty="0"/>
              <a:t>Credit cards frauds reach to an alarming level. </a:t>
            </a:r>
          </a:p>
          <a:p>
            <a:pPr lvl="1"/>
            <a:r>
              <a:rPr lang="en-US" altLang="en-US" dirty="0"/>
              <a:t>Visiting CEOs of Multinational Companies gets threatening E-mails. </a:t>
            </a:r>
          </a:p>
          <a:p>
            <a:pPr lvl="1"/>
            <a:r>
              <a:rPr lang="en-US" altLang="en-US" dirty="0"/>
              <a:t>Financial institutions are the favorite targets of Cyber criminals --- worst effecting the technological</a:t>
            </a:r>
            <a:br>
              <a:rPr lang="en-US" altLang="en-US" dirty="0"/>
            </a:br>
            <a:r>
              <a:rPr lang="en-US" altLang="en-US" dirty="0"/>
              <a:t>progress in the area of e –Commerce</a:t>
            </a:r>
          </a:p>
          <a:p>
            <a:pPr lvl="1" eaLnBrk="1" hangingPunct="1"/>
            <a:endParaRPr lang="en-US" altLang="en-US" dirty="0"/>
          </a:p>
          <a:p>
            <a:pPr lvl="1" eaLnBrk="1" hangingPunct="1"/>
            <a:endParaRPr lang="en-US" alt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43270-A09E-46B9-BC0E-90293F45A06D}"/>
              </a:ext>
            </a:extLst>
          </p:cNvPr>
          <p:cNvSpPr>
            <a:spLocks noGrp="1"/>
          </p:cNvSpPr>
          <p:nvPr>
            <p:ph type="title"/>
          </p:nvPr>
        </p:nvSpPr>
        <p:spPr/>
        <p:txBody>
          <a:bodyPr/>
          <a:lstStyle/>
          <a:p>
            <a:r>
              <a:rPr lang="en-US" b="1" dirty="0"/>
              <a:t>Cyber stalking</a:t>
            </a:r>
            <a:endParaRPr lang="en-PK" b="1" dirty="0"/>
          </a:p>
        </p:txBody>
      </p:sp>
      <p:sp>
        <p:nvSpPr>
          <p:cNvPr id="3" name="Content Placeholder 2">
            <a:extLst>
              <a:ext uri="{FF2B5EF4-FFF2-40B4-BE49-F238E27FC236}">
                <a16:creationId xmlns:a16="http://schemas.microsoft.com/office/drawing/2014/main" id="{DBC89531-62DB-4998-A21C-4D1B713C8E55}"/>
              </a:ext>
            </a:extLst>
          </p:cNvPr>
          <p:cNvSpPr>
            <a:spLocks noGrp="1"/>
          </p:cNvSpPr>
          <p:nvPr>
            <p:ph idx="1"/>
          </p:nvPr>
        </p:nvSpPr>
        <p:spPr>
          <a:xfrm>
            <a:off x="1066800" y="2428874"/>
            <a:ext cx="10058400" cy="3606165"/>
          </a:xfrm>
        </p:spPr>
        <p:txBody>
          <a:bodyPr/>
          <a:lstStyle/>
          <a:p>
            <a:r>
              <a:rPr lang="en-US" dirty="0"/>
              <a:t>means repeatedly bothering or scaring someone online.</a:t>
            </a:r>
            <a:endParaRPr lang="en-US" b="1" dirty="0"/>
          </a:p>
          <a:p>
            <a:r>
              <a:rPr lang="en-US" b="1" dirty="0"/>
              <a:t>Example</a:t>
            </a:r>
          </a:p>
          <a:p>
            <a:r>
              <a:rPr lang="en-US" dirty="0"/>
              <a:t>A person constantly sends unwanted messages, comments, or threats to someone on Facebook or Instagram — even after being blocked — this is </a:t>
            </a:r>
            <a:r>
              <a:rPr lang="en-US" b="1" dirty="0"/>
              <a:t>cyber stalking</a:t>
            </a:r>
            <a:r>
              <a:rPr lang="en-US" dirty="0"/>
              <a:t>.</a:t>
            </a:r>
          </a:p>
          <a:p>
            <a:endParaRPr lang="en-PK" dirty="0"/>
          </a:p>
        </p:txBody>
      </p:sp>
      <p:sp>
        <p:nvSpPr>
          <p:cNvPr id="4" name="Slide Number Placeholder 3">
            <a:extLst>
              <a:ext uri="{FF2B5EF4-FFF2-40B4-BE49-F238E27FC236}">
                <a16:creationId xmlns:a16="http://schemas.microsoft.com/office/drawing/2014/main" id="{BCB57687-EA0F-486D-8412-4D78775BCEB5}"/>
              </a:ext>
            </a:extLst>
          </p:cNvPr>
          <p:cNvSpPr>
            <a:spLocks noGrp="1"/>
          </p:cNvSpPr>
          <p:nvPr>
            <p:ph type="sldNum" sz="quarter" idx="12"/>
          </p:nvPr>
        </p:nvSpPr>
        <p:spPr/>
        <p:txBody>
          <a:bodyPr/>
          <a:lstStyle/>
          <a:p>
            <a:fld id="{FA99160C-D4EA-4527-887A-60DA6E3DBCEB}" type="slidenum">
              <a:rPr lang="en-US" smtClean="0"/>
              <a:pPr/>
              <a:t>16</a:t>
            </a:fld>
            <a:endParaRPr lang="en-US"/>
          </a:p>
        </p:txBody>
      </p:sp>
    </p:spTree>
    <p:extLst>
      <p:ext uri="{BB962C8B-B14F-4D97-AF65-F5344CB8AC3E}">
        <p14:creationId xmlns:p14="http://schemas.microsoft.com/office/powerpoint/2010/main" val="2865065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2192D-8449-48FB-B97C-786BB9B42838}"/>
              </a:ext>
            </a:extLst>
          </p:cNvPr>
          <p:cNvSpPr>
            <a:spLocks noGrp="1"/>
          </p:cNvSpPr>
          <p:nvPr>
            <p:ph type="title"/>
          </p:nvPr>
        </p:nvSpPr>
        <p:spPr/>
        <p:txBody>
          <a:bodyPr/>
          <a:lstStyle/>
          <a:p>
            <a:r>
              <a:rPr lang="en-US" b="1" dirty="0"/>
              <a:t>Spamming</a:t>
            </a:r>
            <a:endParaRPr lang="en-PK" b="1" dirty="0"/>
          </a:p>
        </p:txBody>
      </p:sp>
      <p:sp>
        <p:nvSpPr>
          <p:cNvPr id="3" name="Content Placeholder 2">
            <a:extLst>
              <a:ext uri="{FF2B5EF4-FFF2-40B4-BE49-F238E27FC236}">
                <a16:creationId xmlns:a16="http://schemas.microsoft.com/office/drawing/2014/main" id="{7263EEE6-90DD-4E1B-BC5C-3D59A602DA49}"/>
              </a:ext>
            </a:extLst>
          </p:cNvPr>
          <p:cNvSpPr>
            <a:spLocks noGrp="1"/>
          </p:cNvSpPr>
          <p:nvPr>
            <p:ph idx="1"/>
          </p:nvPr>
        </p:nvSpPr>
        <p:spPr>
          <a:xfrm>
            <a:off x="1066800" y="2428874"/>
            <a:ext cx="10058400" cy="3606165"/>
          </a:xfrm>
        </p:spPr>
        <p:txBody>
          <a:bodyPr/>
          <a:lstStyle/>
          <a:p>
            <a:r>
              <a:rPr lang="en-US" dirty="0"/>
              <a:t>spamming means flooding someone’s inbox or account with junk messages.</a:t>
            </a:r>
          </a:p>
          <a:p>
            <a:r>
              <a:rPr lang="en-US" b="1" dirty="0"/>
              <a:t>Examples:</a:t>
            </a:r>
            <a:endParaRPr lang="en-US" dirty="0"/>
          </a:p>
          <a:p>
            <a:pPr>
              <a:buFont typeface="Arial" panose="020B0604020202020204" pitchFamily="34" charset="0"/>
              <a:buChar char="•"/>
            </a:pPr>
            <a:r>
              <a:rPr lang="en-US" dirty="0"/>
              <a:t>Receiving dozens of unwanted marketing emails from unknown senders.</a:t>
            </a:r>
          </a:p>
          <a:p>
            <a:pPr>
              <a:buFont typeface="Arial" panose="020B0604020202020204" pitchFamily="34" charset="0"/>
              <a:buChar char="•"/>
            </a:pPr>
            <a:r>
              <a:rPr lang="en-US" dirty="0"/>
              <a:t>Spam comments on social media promoting fake websites.</a:t>
            </a:r>
          </a:p>
          <a:p>
            <a:pPr>
              <a:buFont typeface="Arial" panose="020B0604020202020204" pitchFamily="34" charset="0"/>
              <a:buChar char="•"/>
            </a:pPr>
            <a:r>
              <a:rPr lang="en-US" dirty="0"/>
              <a:t>Emails containing malicious links pretending to offer free prizes or discounts.</a:t>
            </a:r>
          </a:p>
          <a:p>
            <a:endParaRPr lang="en-PK" dirty="0"/>
          </a:p>
        </p:txBody>
      </p:sp>
      <p:sp>
        <p:nvSpPr>
          <p:cNvPr id="4" name="Slide Number Placeholder 3">
            <a:extLst>
              <a:ext uri="{FF2B5EF4-FFF2-40B4-BE49-F238E27FC236}">
                <a16:creationId xmlns:a16="http://schemas.microsoft.com/office/drawing/2014/main" id="{0D1BF784-88AD-4458-8420-BFB8E1428719}"/>
              </a:ext>
            </a:extLst>
          </p:cNvPr>
          <p:cNvSpPr>
            <a:spLocks noGrp="1"/>
          </p:cNvSpPr>
          <p:nvPr>
            <p:ph type="sldNum" sz="quarter" idx="12"/>
          </p:nvPr>
        </p:nvSpPr>
        <p:spPr/>
        <p:txBody>
          <a:bodyPr/>
          <a:lstStyle/>
          <a:p>
            <a:fld id="{FA99160C-D4EA-4527-887A-60DA6E3DBCEB}" type="slidenum">
              <a:rPr lang="en-US" smtClean="0"/>
              <a:pPr/>
              <a:t>17</a:t>
            </a:fld>
            <a:endParaRPr lang="en-US"/>
          </a:p>
        </p:txBody>
      </p:sp>
    </p:spTree>
    <p:extLst>
      <p:ext uri="{BB962C8B-B14F-4D97-AF65-F5344CB8AC3E}">
        <p14:creationId xmlns:p14="http://schemas.microsoft.com/office/powerpoint/2010/main" val="4924992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F81D4-6D01-4490-95E3-4156CEC47A6F}"/>
              </a:ext>
            </a:extLst>
          </p:cNvPr>
          <p:cNvSpPr>
            <a:spLocks noGrp="1"/>
          </p:cNvSpPr>
          <p:nvPr>
            <p:ph type="title"/>
          </p:nvPr>
        </p:nvSpPr>
        <p:spPr/>
        <p:txBody>
          <a:bodyPr/>
          <a:lstStyle/>
          <a:p>
            <a:r>
              <a:rPr lang="en-US" b="1" dirty="0"/>
              <a:t>Cyber terrorism</a:t>
            </a:r>
            <a:endParaRPr lang="en-PK" dirty="0"/>
          </a:p>
        </p:txBody>
      </p:sp>
      <p:sp>
        <p:nvSpPr>
          <p:cNvPr id="3" name="Content Placeholder 2">
            <a:extLst>
              <a:ext uri="{FF2B5EF4-FFF2-40B4-BE49-F238E27FC236}">
                <a16:creationId xmlns:a16="http://schemas.microsoft.com/office/drawing/2014/main" id="{1C70925A-7B86-411A-AA85-8F2385AC3EE1}"/>
              </a:ext>
            </a:extLst>
          </p:cNvPr>
          <p:cNvSpPr>
            <a:spLocks noGrp="1"/>
          </p:cNvSpPr>
          <p:nvPr>
            <p:ph idx="1"/>
          </p:nvPr>
        </p:nvSpPr>
        <p:spPr>
          <a:xfrm>
            <a:off x="1066800" y="2571750"/>
            <a:ext cx="10058400" cy="3463290"/>
          </a:xfrm>
        </p:spPr>
        <p:txBody>
          <a:bodyPr/>
          <a:lstStyle/>
          <a:p>
            <a:r>
              <a:rPr lang="en-US" dirty="0"/>
              <a:t>cyber terrorism means using computers and the internet to cause harm or spread terror.</a:t>
            </a:r>
          </a:p>
          <a:p>
            <a:r>
              <a:rPr lang="en-US" b="1" dirty="0"/>
              <a:t>Examples</a:t>
            </a:r>
          </a:p>
          <a:p>
            <a:pPr>
              <a:buFont typeface="+mj-lt"/>
              <a:buAutoNum type="arabicPeriod"/>
            </a:pPr>
            <a:r>
              <a:rPr lang="en-US" dirty="0"/>
              <a:t>Hacking government websites to leak or destroy sensitive information.</a:t>
            </a:r>
          </a:p>
          <a:p>
            <a:pPr>
              <a:buFont typeface="+mj-lt"/>
              <a:buAutoNum type="arabicPeriod"/>
            </a:pPr>
            <a:r>
              <a:rPr lang="en-US" dirty="0"/>
              <a:t>Launching cyber-attacks on airports, banks, or national security systems.</a:t>
            </a:r>
          </a:p>
          <a:p>
            <a:pPr>
              <a:buFont typeface="+mj-lt"/>
              <a:buAutoNum type="arabicPeriod"/>
            </a:pPr>
            <a:r>
              <a:rPr lang="en-US" dirty="0"/>
              <a:t>Spreading propaganda or fake news to incite violence or hatred.</a:t>
            </a:r>
          </a:p>
          <a:p>
            <a:pPr>
              <a:buFont typeface="+mj-lt"/>
              <a:buAutoNum type="arabicPeriod"/>
            </a:pPr>
            <a:r>
              <a:rPr lang="en-US" dirty="0"/>
              <a:t>Disabling power systems or communication networks during conflicts.</a:t>
            </a:r>
          </a:p>
          <a:p>
            <a:endParaRPr lang="en-PK" dirty="0"/>
          </a:p>
        </p:txBody>
      </p:sp>
      <p:sp>
        <p:nvSpPr>
          <p:cNvPr id="4" name="Slide Number Placeholder 3">
            <a:extLst>
              <a:ext uri="{FF2B5EF4-FFF2-40B4-BE49-F238E27FC236}">
                <a16:creationId xmlns:a16="http://schemas.microsoft.com/office/drawing/2014/main" id="{57763CBF-A03D-4315-BCB8-41DA76BF3505}"/>
              </a:ext>
            </a:extLst>
          </p:cNvPr>
          <p:cNvSpPr>
            <a:spLocks noGrp="1"/>
          </p:cNvSpPr>
          <p:nvPr>
            <p:ph type="sldNum" sz="quarter" idx="12"/>
          </p:nvPr>
        </p:nvSpPr>
        <p:spPr/>
        <p:txBody>
          <a:bodyPr/>
          <a:lstStyle/>
          <a:p>
            <a:fld id="{FA99160C-D4EA-4527-887A-60DA6E3DBCEB}" type="slidenum">
              <a:rPr lang="en-US" smtClean="0"/>
              <a:pPr/>
              <a:t>18</a:t>
            </a:fld>
            <a:endParaRPr lang="en-US"/>
          </a:p>
        </p:txBody>
      </p:sp>
    </p:spTree>
    <p:extLst>
      <p:ext uri="{BB962C8B-B14F-4D97-AF65-F5344CB8AC3E}">
        <p14:creationId xmlns:p14="http://schemas.microsoft.com/office/powerpoint/2010/main" val="30482362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78E0B-E55E-41A8-8C9F-AB80393BA52A}"/>
              </a:ext>
            </a:extLst>
          </p:cNvPr>
          <p:cNvSpPr>
            <a:spLocks noGrp="1"/>
          </p:cNvSpPr>
          <p:nvPr>
            <p:ph type="title"/>
          </p:nvPr>
        </p:nvSpPr>
        <p:spPr>
          <a:xfrm>
            <a:off x="488630" y="354849"/>
            <a:ext cx="11444290" cy="1371600"/>
          </a:xfrm>
        </p:spPr>
        <p:txBody>
          <a:bodyPr>
            <a:normAutofit/>
          </a:bodyPr>
          <a:lstStyle/>
          <a:p>
            <a:r>
              <a:rPr lang="en-US" sz="4000" b="1" dirty="0"/>
              <a:t>Difference between hacking and cybercrime</a:t>
            </a:r>
            <a:endParaRPr lang="en-PK" sz="4000" b="1" dirty="0"/>
          </a:p>
        </p:txBody>
      </p:sp>
      <p:graphicFrame>
        <p:nvGraphicFramePr>
          <p:cNvPr id="5" name="Table 5">
            <a:extLst>
              <a:ext uri="{FF2B5EF4-FFF2-40B4-BE49-F238E27FC236}">
                <a16:creationId xmlns:a16="http://schemas.microsoft.com/office/drawing/2014/main" id="{75ADB227-3887-4744-AF9F-A78A597A1BCA}"/>
              </a:ext>
            </a:extLst>
          </p:cNvPr>
          <p:cNvGraphicFramePr>
            <a:graphicFrameLocks noGrp="1"/>
          </p:cNvGraphicFramePr>
          <p:nvPr>
            <p:ph idx="1"/>
            <p:extLst>
              <p:ext uri="{D42A27DB-BD31-4B8C-83A1-F6EECF244321}">
                <p14:modId xmlns:p14="http://schemas.microsoft.com/office/powerpoint/2010/main" val="3682901884"/>
              </p:ext>
            </p:extLst>
          </p:nvPr>
        </p:nvGraphicFramePr>
        <p:xfrm>
          <a:off x="455770" y="1836319"/>
          <a:ext cx="11280459" cy="4485640"/>
        </p:xfrm>
        <a:graphic>
          <a:graphicData uri="http://schemas.openxmlformats.org/drawingml/2006/table">
            <a:tbl>
              <a:tblPr firstRow="1" bandRow="1">
                <a:tableStyleId>{72833802-FEF1-4C79-8D5D-14CF1EAF98D9}</a:tableStyleId>
              </a:tblPr>
              <a:tblGrid>
                <a:gridCol w="1615921">
                  <a:extLst>
                    <a:ext uri="{9D8B030D-6E8A-4147-A177-3AD203B41FA5}">
                      <a16:colId xmlns:a16="http://schemas.microsoft.com/office/drawing/2014/main" val="3303529765"/>
                    </a:ext>
                  </a:extLst>
                </a:gridCol>
                <a:gridCol w="4129087">
                  <a:extLst>
                    <a:ext uri="{9D8B030D-6E8A-4147-A177-3AD203B41FA5}">
                      <a16:colId xmlns:a16="http://schemas.microsoft.com/office/drawing/2014/main" val="3790418157"/>
                    </a:ext>
                  </a:extLst>
                </a:gridCol>
                <a:gridCol w="5535451">
                  <a:extLst>
                    <a:ext uri="{9D8B030D-6E8A-4147-A177-3AD203B41FA5}">
                      <a16:colId xmlns:a16="http://schemas.microsoft.com/office/drawing/2014/main" val="1447123297"/>
                    </a:ext>
                  </a:extLst>
                </a:gridCol>
              </a:tblGrid>
              <a:tr h="370840">
                <a:tc>
                  <a:txBody>
                    <a:bodyPr/>
                    <a:lstStyle/>
                    <a:p>
                      <a:r>
                        <a:rPr lang="en-US" b="1" dirty="0"/>
                        <a:t>Aspect</a:t>
                      </a:r>
                      <a:endParaRPr lang="en-US" dirty="0"/>
                    </a:p>
                  </a:txBody>
                  <a:tcPr anchor="ctr"/>
                </a:tc>
                <a:tc>
                  <a:txBody>
                    <a:bodyPr/>
                    <a:lstStyle/>
                    <a:p>
                      <a:r>
                        <a:rPr lang="en-US" b="1"/>
                        <a:t>Cyber Crime</a:t>
                      </a:r>
                      <a:endParaRPr lang="en-US"/>
                    </a:p>
                  </a:txBody>
                  <a:tcPr anchor="ctr"/>
                </a:tc>
                <a:tc>
                  <a:txBody>
                    <a:bodyPr/>
                    <a:lstStyle/>
                    <a:p>
                      <a:r>
                        <a:rPr lang="en-US" b="1"/>
                        <a:t>Hacking</a:t>
                      </a:r>
                      <a:endParaRPr lang="en-US"/>
                    </a:p>
                  </a:txBody>
                  <a:tcPr anchor="ctr"/>
                </a:tc>
                <a:extLst>
                  <a:ext uri="{0D108BD9-81ED-4DB2-BD59-A6C34878D82A}">
                    <a16:rowId xmlns:a16="http://schemas.microsoft.com/office/drawing/2014/main" val="3610268880"/>
                  </a:ext>
                </a:extLst>
              </a:tr>
              <a:tr h="370840">
                <a:tc>
                  <a:txBody>
                    <a:bodyPr/>
                    <a:lstStyle/>
                    <a:p>
                      <a:r>
                        <a:rPr lang="en-US" b="1"/>
                        <a:t>Definition</a:t>
                      </a:r>
                      <a:endParaRPr lang="en-US"/>
                    </a:p>
                  </a:txBody>
                  <a:tcPr anchor="ctr"/>
                </a:tc>
                <a:tc>
                  <a:txBody>
                    <a:bodyPr/>
                    <a:lstStyle/>
                    <a:p>
                      <a:r>
                        <a:rPr lang="en-US" b="0" dirty="0"/>
                        <a:t>Any illegal activity using computers, networks, or the internet.</a:t>
                      </a:r>
                    </a:p>
                  </a:txBody>
                  <a:tcPr anchor="ctr"/>
                </a:tc>
                <a:tc>
                  <a:txBody>
                    <a:bodyPr/>
                    <a:lstStyle/>
                    <a:p>
                      <a:r>
                        <a:rPr lang="en-US" b="0"/>
                        <a:t>The act of breaking into computer systems or networks without permission.</a:t>
                      </a:r>
                    </a:p>
                  </a:txBody>
                  <a:tcPr anchor="ctr"/>
                </a:tc>
                <a:extLst>
                  <a:ext uri="{0D108BD9-81ED-4DB2-BD59-A6C34878D82A}">
                    <a16:rowId xmlns:a16="http://schemas.microsoft.com/office/drawing/2014/main" val="2667071486"/>
                  </a:ext>
                </a:extLst>
              </a:tr>
              <a:tr h="370840">
                <a:tc>
                  <a:txBody>
                    <a:bodyPr/>
                    <a:lstStyle/>
                    <a:p>
                      <a:r>
                        <a:rPr lang="en-US" b="1"/>
                        <a:t>Scope</a:t>
                      </a:r>
                      <a:endParaRPr lang="en-US"/>
                    </a:p>
                  </a:txBody>
                  <a:tcPr anchor="ctr"/>
                </a:tc>
                <a:tc>
                  <a:txBody>
                    <a:bodyPr/>
                    <a:lstStyle/>
                    <a:p>
                      <a:r>
                        <a:rPr lang="en-US" b="0" dirty="0"/>
                        <a:t>Broader term — includes all types of digital crimes.</a:t>
                      </a:r>
                    </a:p>
                  </a:txBody>
                  <a:tcPr anchor="ctr"/>
                </a:tc>
                <a:tc>
                  <a:txBody>
                    <a:bodyPr/>
                    <a:lstStyle/>
                    <a:p>
                      <a:r>
                        <a:rPr lang="en-US" b="0"/>
                        <a:t>Narrow term — one method used to commit cyber crime.</a:t>
                      </a:r>
                    </a:p>
                  </a:txBody>
                  <a:tcPr anchor="ctr"/>
                </a:tc>
                <a:extLst>
                  <a:ext uri="{0D108BD9-81ED-4DB2-BD59-A6C34878D82A}">
                    <a16:rowId xmlns:a16="http://schemas.microsoft.com/office/drawing/2014/main" val="3879871864"/>
                  </a:ext>
                </a:extLst>
              </a:tr>
              <a:tr h="370840">
                <a:tc>
                  <a:txBody>
                    <a:bodyPr/>
                    <a:lstStyle/>
                    <a:p>
                      <a:r>
                        <a:rPr lang="en-US" b="1"/>
                        <a:t>Purpose</a:t>
                      </a:r>
                      <a:endParaRPr lang="en-US"/>
                    </a:p>
                  </a:txBody>
                  <a:tcPr anchor="ctr"/>
                </a:tc>
                <a:tc>
                  <a:txBody>
                    <a:bodyPr/>
                    <a:lstStyle/>
                    <a:p>
                      <a:r>
                        <a:rPr lang="en-US" b="0" dirty="0"/>
                        <a:t>To steal data, money, spread viruses, harass, or damage systems.</a:t>
                      </a:r>
                    </a:p>
                  </a:txBody>
                  <a:tcPr anchor="ctr"/>
                </a:tc>
                <a:tc>
                  <a:txBody>
                    <a:bodyPr/>
                    <a:lstStyle/>
                    <a:p>
                      <a:r>
                        <a:rPr lang="en-US" b="0"/>
                        <a:t>To gain unauthorized access — sometimes for theft, sabotage, or testing security.</a:t>
                      </a:r>
                    </a:p>
                  </a:txBody>
                  <a:tcPr anchor="ctr"/>
                </a:tc>
                <a:extLst>
                  <a:ext uri="{0D108BD9-81ED-4DB2-BD59-A6C34878D82A}">
                    <a16:rowId xmlns:a16="http://schemas.microsoft.com/office/drawing/2014/main" val="2727927746"/>
                  </a:ext>
                </a:extLst>
              </a:tr>
              <a:tr h="370840">
                <a:tc>
                  <a:txBody>
                    <a:bodyPr/>
                    <a:lstStyle/>
                    <a:p>
                      <a:r>
                        <a:rPr lang="en-US" b="1"/>
                        <a:t>Legality</a:t>
                      </a:r>
                      <a:endParaRPr lang="en-US"/>
                    </a:p>
                  </a:txBody>
                  <a:tcPr anchor="ctr"/>
                </a:tc>
                <a:tc>
                  <a:txBody>
                    <a:bodyPr/>
                    <a:lstStyle/>
                    <a:p>
                      <a:r>
                        <a:rPr lang="en-US" b="0" dirty="0"/>
                        <a:t>Always illegal and punishable by law.</a:t>
                      </a:r>
                    </a:p>
                  </a:txBody>
                  <a:tcPr anchor="ctr"/>
                </a:tc>
                <a:tc>
                  <a:txBody>
                    <a:bodyPr/>
                    <a:lstStyle/>
                    <a:p>
                      <a:r>
                        <a:rPr lang="en-US" b="0" dirty="0"/>
                        <a:t>Can be illegal (black hat) or legal (ethical hacking) when done with permission.</a:t>
                      </a:r>
                    </a:p>
                  </a:txBody>
                  <a:tcPr anchor="ctr"/>
                </a:tc>
                <a:extLst>
                  <a:ext uri="{0D108BD9-81ED-4DB2-BD59-A6C34878D82A}">
                    <a16:rowId xmlns:a16="http://schemas.microsoft.com/office/drawing/2014/main" val="2399177750"/>
                  </a:ext>
                </a:extLst>
              </a:tr>
              <a:tr h="370840">
                <a:tc>
                  <a:txBody>
                    <a:bodyPr/>
                    <a:lstStyle/>
                    <a:p>
                      <a:r>
                        <a:rPr lang="en-US" b="1"/>
                        <a:t>Examples</a:t>
                      </a:r>
                      <a:endParaRPr lang="en-US"/>
                    </a:p>
                  </a:txBody>
                  <a:tcPr anchor="ctr"/>
                </a:tc>
                <a:tc>
                  <a:txBody>
                    <a:bodyPr/>
                    <a:lstStyle/>
                    <a:p>
                      <a:r>
                        <a:rPr lang="en-US" b="0"/>
                        <a:t>Phishing scams, identity theft, cyberbullying, ransomware attacks.</a:t>
                      </a:r>
                    </a:p>
                  </a:txBody>
                  <a:tcPr anchor="ctr"/>
                </a:tc>
                <a:tc>
                  <a:txBody>
                    <a:bodyPr/>
                    <a:lstStyle/>
                    <a:p>
                      <a:r>
                        <a:rPr lang="en-US" b="0" dirty="0"/>
                        <a:t>Accessing someone’s account or system without permission.</a:t>
                      </a:r>
                    </a:p>
                  </a:txBody>
                  <a:tcPr anchor="ctr"/>
                </a:tc>
                <a:extLst>
                  <a:ext uri="{0D108BD9-81ED-4DB2-BD59-A6C34878D82A}">
                    <a16:rowId xmlns:a16="http://schemas.microsoft.com/office/drawing/2014/main" val="1063331802"/>
                  </a:ext>
                </a:extLst>
              </a:tr>
              <a:tr h="370840">
                <a:tc>
                  <a:txBody>
                    <a:bodyPr/>
                    <a:lstStyle/>
                    <a:p>
                      <a:r>
                        <a:rPr lang="en-US" b="1" dirty="0"/>
                        <a:t>Main Focus</a:t>
                      </a:r>
                      <a:endParaRPr lang="en-US" dirty="0"/>
                    </a:p>
                  </a:txBody>
                  <a:tcPr anchor="ctr"/>
                </a:tc>
                <a:tc>
                  <a:txBody>
                    <a:bodyPr/>
                    <a:lstStyle/>
                    <a:p>
                      <a:r>
                        <a:rPr lang="en-US" b="0"/>
                        <a:t>Covers all digital offenses and their effects.</a:t>
                      </a:r>
                    </a:p>
                  </a:txBody>
                  <a:tcPr anchor="ctr"/>
                </a:tc>
                <a:tc>
                  <a:txBody>
                    <a:bodyPr/>
                    <a:lstStyle/>
                    <a:p>
                      <a:r>
                        <a:rPr lang="en-US" b="0" dirty="0"/>
                        <a:t>Focuses only on unauthorized access or control of systems.</a:t>
                      </a:r>
                    </a:p>
                  </a:txBody>
                  <a:tcPr anchor="ctr"/>
                </a:tc>
                <a:extLst>
                  <a:ext uri="{0D108BD9-81ED-4DB2-BD59-A6C34878D82A}">
                    <a16:rowId xmlns:a16="http://schemas.microsoft.com/office/drawing/2014/main" val="2632271960"/>
                  </a:ext>
                </a:extLst>
              </a:tr>
            </a:tbl>
          </a:graphicData>
        </a:graphic>
      </p:graphicFrame>
      <p:sp>
        <p:nvSpPr>
          <p:cNvPr id="4" name="Slide Number Placeholder 3">
            <a:extLst>
              <a:ext uri="{FF2B5EF4-FFF2-40B4-BE49-F238E27FC236}">
                <a16:creationId xmlns:a16="http://schemas.microsoft.com/office/drawing/2014/main" id="{AE36BFDE-5ABD-4EC6-AA13-662FD8B7D373}"/>
              </a:ext>
            </a:extLst>
          </p:cNvPr>
          <p:cNvSpPr>
            <a:spLocks noGrp="1"/>
          </p:cNvSpPr>
          <p:nvPr>
            <p:ph type="sldNum" sz="quarter" idx="12"/>
          </p:nvPr>
        </p:nvSpPr>
        <p:spPr/>
        <p:txBody>
          <a:bodyPr/>
          <a:lstStyle/>
          <a:p>
            <a:fld id="{FA99160C-D4EA-4527-887A-60DA6E3DBCEB}" type="slidenum">
              <a:rPr lang="en-US" smtClean="0"/>
              <a:pPr/>
              <a:t>19</a:t>
            </a:fld>
            <a:endParaRPr lang="en-US"/>
          </a:p>
        </p:txBody>
      </p:sp>
    </p:spTree>
    <p:extLst>
      <p:ext uri="{BB962C8B-B14F-4D97-AF65-F5344CB8AC3E}">
        <p14:creationId xmlns:p14="http://schemas.microsoft.com/office/powerpoint/2010/main" val="991402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B8E92-2B8D-417E-ACAF-621D9D27B556}"/>
              </a:ext>
            </a:extLst>
          </p:cNvP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8B2C053-BE41-43A7-B605-2A9200044D18}"/>
              </a:ext>
            </a:extLst>
          </p:cNvPr>
          <p:cNvSpPr>
            <a:spLocks noGrp="1" noChangeArrowheads="1"/>
          </p:cNvSpPr>
          <p:nvPr>
            <p:ph type="title"/>
          </p:nvPr>
        </p:nvSpPr>
        <p:spPr/>
        <p:txBody>
          <a:bodyPr/>
          <a:lstStyle/>
          <a:p>
            <a:pPr eaLnBrk="1" hangingPunct="1"/>
            <a:r>
              <a:rPr lang="en-US" altLang="en-US" b="1" dirty="0"/>
              <a:t>Cyber Laws</a:t>
            </a:r>
          </a:p>
        </p:txBody>
      </p:sp>
      <p:sp>
        <p:nvSpPr>
          <p:cNvPr id="15363" name="Rectangle 3">
            <a:extLst>
              <a:ext uri="{FF2B5EF4-FFF2-40B4-BE49-F238E27FC236}">
                <a16:creationId xmlns:a16="http://schemas.microsoft.com/office/drawing/2014/main" id="{EF21687F-0D1C-435D-B47B-43A0087B0B8D}"/>
              </a:ext>
            </a:extLst>
          </p:cNvPr>
          <p:cNvSpPr>
            <a:spLocks noGrp="1" noChangeArrowheads="1"/>
          </p:cNvSpPr>
          <p:nvPr>
            <p:ph idx="1"/>
          </p:nvPr>
        </p:nvSpPr>
        <p:spPr>
          <a:xfrm>
            <a:off x="1066800" y="2103120"/>
            <a:ext cx="10663238" cy="3931920"/>
          </a:xfrm>
        </p:spPr>
        <p:txBody>
          <a:bodyPr>
            <a:normAutofit/>
          </a:bodyPr>
          <a:lstStyle/>
          <a:p>
            <a:pPr eaLnBrk="1" hangingPunct="1"/>
            <a:r>
              <a:rPr lang="en-US" altLang="en-US" sz="2200" dirty="0"/>
              <a:t>Cyber laws is an attempt to apply laws designed for the physical world to human activity on the Internet </a:t>
            </a:r>
          </a:p>
          <a:p>
            <a:pPr marL="0" indent="0" eaLnBrk="1" hangingPunct="1">
              <a:buNone/>
            </a:pPr>
            <a:r>
              <a:rPr lang="en-US" altLang="en-US" sz="2200" b="1" dirty="0"/>
              <a:t>Example</a:t>
            </a:r>
          </a:p>
          <a:p>
            <a:pPr eaLnBrk="1" hangingPunct="1"/>
            <a:r>
              <a:rPr lang="en-US" altLang="en-US" sz="2200" dirty="0"/>
              <a:t>Electronic Commerce Act </a:t>
            </a:r>
            <a:r>
              <a:rPr lang="en-US" altLang="en-US" sz="2200" b="1" dirty="0"/>
              <a:t>(Ireland)</a:t>
            </a:r>
          </a:p>
          <a:p>
            <a:pPr eaLnBrk="1" hangingPunct="1"/>
            <a:r>
              <a:rPr lang="en-US" altLang="en-US" sz="2200" dirty="0"/>
              <a:t>Electronic Transactions Act </a:t>
            </a:r>
            <a:r>
              <a:rPr lang="en-US" altLang="en-US" sz="2200" b="1" dirty="0"/>
              <a:t>(UK, USA, Australia, New Zealand, Singapore)</a:t>
            </a:r>
          </a:p>
          <a:p>
            <a:pPr eaLnBrk="1" hangingPunct="1"/>
            <a:r>
              <a:rPr lang="en-US" altLang="en-US" sz="2200" dirty="0"/>
              <a:t>Electronic Transactions Ordinance </a:t>
            </a:r>
            <a:r>
              <a:rPr lang="en-US" altLang="en-US" sz="2200" b="1" dirty="0"/>
              <a:t>(Hong Kong)</a:t>
            </a:r>
          </a:p>
          <a:p>
            <a:pPr eaLnBrk="1" hangingPunct="1"/>
            <a:r>
              <a:rPr lang="en-US" altLang="en-US" sz="2200" dirty="0"/>
              <a:t>Information Technology Act </a:t>
            </a:r>
            <a:r>
              <a:rPr lang="en-US" altLang="en-US" sz="2200" b="1" dirty="0"/>
              <a:t>(India)</a:t>
            </a:r>
          </a:p>
          <a:p>
            <a:pPr eaLnBrk="1" hangingPunct="1"/>
            <a:r>
              <a:rPr lang="en-US" altLang="en-US" sz="2200" dirty="0"/>
              <a:t>Information Communication Technology Act Draft </a:t>
            </a:r>
            <a:r>
              <a:rPr lang="en-US" altLang="en-US" sz="2200" b="1" dirty="0"/>
              <a:t>(Bangladesh)</a:t>
            </a:r>
            <a:endParaRPr lang="en-US" altLang="en-US" sz="2200" dirty="0"/>
          </a:p>
          <a:p>
            <a:pPr eaLnBrk="1" hangingPunct="1"/>
            <a:endParaRPr lang="en-US" altLang="en-US" sz="2600" dirty="0"/>
          </a:p>
          <a:p>
            <a:pPr lvl="1" eaLnBrk="1" hangingPunct="1"/>
            <a:endParaRPr lang="en-US" altLang="en-US" sz="2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DFCC608-77FF-4C45-8770-1BB3B1B9CB50}"/>
              </a:ext>
            </a:extLst>
          </p:cNvPr>
          <p:cNvSpPr>
            <a:spLocks noGrp="1" noChangeArrowheads="1"/>
          </p:cNvSpPr>
          <p:nvPr>
            <p:ph type="title"/>
          </p:nvPr>
        </p:nvSpPr>
        <p:spPr/>
        <p:txBody>
          <a:bodyPr/>
          <a:lstStyle/>
          <a:p>
            <a:pPr eaLnBrk="1" hangingPunct="1"/>
            <a:r>
              <a:rPr lang="en-US" altLang="en-US" b="1" dirty="0"/>
              <a:t>Cyber Laws in Pakistan</a:t>
            </a:r>
          </a:p>
        </p:txBody>
      </p:sp>
      <p:sp>
        <p:nvSpPr>
          <p:cNvPr id="17411" name="Rectangle 3">
            <a:extLst>
              <a:ext uri="{FF2B5EF4-FFF2-40B4-BE49-F238E27FC236}">
                <a16:creationId xmlns:a16="http://schemas.microsoft.com/office/drawing/2014/main" id="{137E0168-2295-4FB2-9FEE-B3F059405EE9}"/>
              </a:ext>
            </a:extLst>
          </p:cNvPr>
          <p:cNvSpPr>
            <a:spLocks noGrp="1" noChangeArrowheads="1"/>
          </p:cNvSpPr>
          <p:nvPr>
            <p:ph idx="1"/>
          </p:nvPr>
        </p:nvSpPr>
        <p:spPr/>
        <p:txBody>
          <a:bodyPr>
            <a:normAutofit/>
          </a:bodyPr>
          <a:lstStyle/>
          <a:p>
            <a:pPr eaLnBrk="1" hangingPunct="1"/>
            <a:r>
              <a:rPr lang="en-US" altLang="en-US" sz="2600" dirty="0"/>
              <a:t>They are:</a:t>
            </a:r>
          </a:p>
          <a:p>
            <a:pPr marL="731520" lvl="1" indent="-457200" eaLnBrk="1" hangingPunct="1">
              <a:buFont typeface="+mj-lt"/>
              <a:buAutoNum type="arabicPeriod"/>
            </a:pPr>
            <a:r>
              <a:rPr lang="en-US" altLang="en-US" sz="2200" dirty="0"/>
              <a:t>Electronic Transaction Ordinance 2002</a:t>
            </a:r>
          </a:p>
          <a:p>
            <a:pPr marL="731520" lvl="1" indent="-457200" eaLnBrk="1" hangingPunct="1">
              <a:buFont typeface="+mj-lt"/>
              <a:buAutoNum type="arabicPeriod"/>
            </a:pPr>
            <a:r>
              <a:rPr lang="en-US" altLang="en-US" sz="2200" dirty="0"/>
              <a:t>Electronic / Cyber Crime Bill 2007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AC8946-5013-45D1-B33C-78C05B29F192}"/>
              </a:ext>
            </a:extLst>
          </p:cNvPr>
          <p:cNvSpPr>
            <a:spLocks noGrp="1"/>
          </p:cNvSpPr>
          <p:nvPr>
            <p:ph type="ctrTitle"/>
          </p:nvPr>
        </p:nvSpPr>
        <p:spPr>
          <a:xfrm>
            <a:off x="1449879" y="2087857"/>
            <a:ext cx="9451484" cy="1986365"/>
          </a:xfrm>
        </p:spPr>
        <p:txBody>
          <a:bodyPr/>
          <a:lstStyle/>
          <a:p>
            <a:r>
              <a:rPr lang="en-US" altLang="en-US" sz="4000" b="1" dirty="0"/>
              <a:t>1. Electronic Transaction Ordinance 2002</a:t>
            </a:r>
            <a:endParaRPr lang="en-PK" dirty="0"/>
          </a:p>
        </p:txBody>
      </p:sp>
      <p:sp>
        <p:nvSpPr>
          <p:cNvPr id="4" name="Slide Number Placeholder 3">
            <a:extLst>
              <a:ext uri="{FF2B5EF4-FFF2-40B4-BE49-F238E27FC236}">
                <a16:creationId xmlns:a16="http://schemas.microsoft.com/office/drawing/2014/main" id="{BA7CFD2F-0445-4ECB-8001-DC8ECBAB8CB8}"/>
              </a:ext>
            </a:extLst>
          </p:cNvPr>
          <p:cNvSpPr>
            <a:spLocks noGrp="1"/>
          </p:cNvSpPr>
          <p:nvPr>
            <p:ph type="sldNum" sz="quarter" idx="4294967295"/>
          </p:nvPr>
        </p:nvSpPr>
        <p:spPr>
          <a:xfrm>
            <a:off x="10728325" y="6307138"/>
            <a:ext cx="1463675" cy="274637"/>
          </a:xfrm>
        </p:spPr>
        <p:txBody>
          <a:bodyPr/>
          <a:lstStyle/>
          <a:p>
            <a:fld id="{FA99160C-D4EA-4527-887A-60DA6E3DBCEB}" type="slidenum">
              <a:rPr lang="en-US" smtClean="0"/>
              <a:pPr/>
              <a:t>23</a:t>
            </a:fld>
            <a:endParaRPr lang="en-US"/>
          </a:p>
        </p:txBody>
      </p:sp>
    </p:spTree>
    <p:extLst>
      <p:ext uri="{BB962C8B-B14F-4D97-AF65-F5344CB8AC3E}">
        <p14:creationId xmlns:p14="http://schemas.microsoft.com/office/powerpoint/2010/main" val="3281374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21785D7-E65E-4225-ABD4-61846E511E10}"/>
              </a:ext>
            </a:extLst>
          </p:cNvPr>
          <p:cNvSpPr>
            <a:spLocks noGrp="1" noChangeArrowheads="1"/>
          </p:cNvSpPr>
          <p:nvPr>
            <p:ph type="title"/>
          </p:nvPr>
        </p:nvSpPr>
        <p:spPr>
          <a:xfrm>
            <a:off x="781049" y="517525"/>
            <a:ext cx="10063163" cy="1143000"/>
          </a:xfrm>
        </p:spPr>
        <p:txBody>
          <a:bodyPr>
            <a:normAutofit/>
          </a:bodyPr>
          <a:lstStyle/>
          <a:p>
            <a:pPr eaLnBrk="1" hangingPunct="1"/>
            <a:r>
              <a:rPr lang="en-US" altLang="en-US" sz="3800" b="1" dirty="0"/>
              <a:t>Electronic Transaction Ordinance 2002</a:t>
            </a:r>
          </a:p>
        </p:txBody>
      </p:sp>
      <p:sp>
        <p:nvSpPr>
          <p:cNvPr id="21507" name="Rectangle 3">
            <a:extLst>
              <a:ext uri="{FF2B5EF4-FFF2-40B4-BE49-F238E27FC236}">
                <a16:creationId xmlns:a16="http://schemas.microsoft.com/office/drawing/2014/main" id="{55FB4851-8F21-456F-8FF1-36F84BAD6A84}"/>
              </a:ext>
            </a:extLst>
          </p:cNvPr>
          <p:cNvSpPr>
            <a:spLocks noGrp="1" noChangeArrowheads="1"/>
          </p:cNvSpPr>
          <p:nvPr>
            <p:ph idx="1"/>
          </p:nvPr>
        </p:nvSpPr>
        <p:spPr>
          <a:xfrm>
            <a:off x="609600" y="2185988"/>
            <a:ext cx="10972800" cy="3986212"/>
          </a:xfrm>
        </p:spPr>
        <p:txBody>
          <a:bodyPr>
            <a:normAutofit lnSpcReduction="10000"/>
          </a:bodyPr>
          <a:lstStyle/>
          <a:p>
            <a:pPr marL="0" indent="0" eaLnBrk="1" hangingPunct="1">
              <a:buNone/>
            </a:pPr>
            <a:r>
              <a:rPr lang="en-US" sz="2800" dirty="0"/>
              <a:t>The Electronic Transaction Ordinance (ETO) 2002 was Pakistan’s first cyber law, enacted to recognize and regulate electronic documents, digital communications, and online transactions.</a:t>
            </a:r>
          </a:p>
          <a:p>
            <a:r>
              <a:rPr lang="en-US" sz="2800" b="1" dirty="0"/>
              <a:t>Example</a:t>
            </a:r>
          </a:p>
          <a:p>
            <a:r>
              <a:rPr lang="en-US" sz="2800" dirty="0"/>
              <a:t>A person signing a contract using a digital signature or making an online purchase — both are legally recognized under the ETO 2002, just like traditional paper-based transactions.</a:t>
            </a:r>
          </a:p>
          <a:p>
            <a:pPr marL="0" indent="0" eaLnBrk="1" hangingPunct="1">
              <a:buNone/>
            </a:pPr>
            <a:endParaRPr lang="en-US" alt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4292D04B-DFB8-463D-8EB8-B1A6E68265E1}"/>
              </a:ext>
            </a:extLst>
          </p:cNvPr>
          <p:cNvSpPr>
            <a:spLocks noGrp="1" noChangeArrowheads="1"/>
          </p:cNvSpPr>
          <p:nvPr>
            <p:ph type="title"/>
          </p:nvPr>
        </p:nvSpPr>
        <p:spPr>
          <a:xfrm>
            <a:off x="1066800" y="328269"/>
            <a:ext cx="10058400" cy="1371600"/>
          </a:xfrm>
        </p:spPr>
        <p:txBody>
          <a:bodyPr/>
          <a:lstStyle/>
          <a:p>
            <a:pPr eaLnBrk="1" hangingPunct="1"/>
            <a:r>
              <a:rPr lang="en-US" altLang="en-US" b="1" dirty="0"/>
              <a:t>ETO 2002</a:t>
            </a:r>
          </a:p>
        </p:txBody>
      </p:sp>
      <p:sp>
        <p:nvSpPr>
          <p:cNvPr id="25603" name="Rectangle 3">
            <a:extLst>
              <a:ext uri="{FF2B5EF4-FFF2-40B4-BE49-F238E27FC236}">
                <a16:creationId xmlns:a16="http://schemas.microsoft.com/office/drawing/2014/main" id="{8E15523E-1C3B-43C0-A0D0-0097D8C9652F}"/>
              </a:ext>
            </a:extLst>
          </p:cNvPr>
          <p:cNvSpPr>
            <a:spLocks noGrp="1" noChangeArrowheads="1"/>
          </p:cNvSpPr>
          <p:nvPr>
            <p:ph idx="1"/>
          </p:nvPr>
        </p:nvSpPr>
        <p:spPr>
          <a:xfrm>
            <a:off x="1524919" y="1900238"/>
            <a:ext cx="9476455" cy="4462462"/>
          </a:xfrm>
        </p:spPr>
        <p:txBody>
          <a:bodyPr>
            <a:normAutofit/>
          </a:bodyPr>
          <a:lstStyle/>
          <a:p>
            <a:pPr eaLnBrk="1" hangingPunct="1"/>
            <a:r>
              <a:rPr lang="en-US" altLang="en-US" sz="2600" dirty="0"/>
              <a:t>Sections</a:t>
            </a:r>
          </a:p>
          <a:p>
            <a:pPr lvl="1" eaLnBrk="1" hangingPunct="1"/>
            <a:r>
              <a:rPr lang="en-US" altLang="en-US" sz="2200" dirty="0"/>
              <a:t>There are 43 sections in this ordinance</a:t>
            </a:r>
          </a:p>
          <a:p>
            <a:pPr lvl="1" eaLnBrk="1" hangingPunct="1"/>
            <a:r>
              <a:rPr lang="en-US" altLang="en-US" sz="2200" dirty="0"/>
              <a:t>It deals with following 8 main areas relating to e-Commerce.</a:t>
            </a:r>
          </a:p>
          <a:p>
            <a:pPr lvl="2" eaLnBrk="1" hangingPunct="1"/>
            <a:r>
              <a:rPr lang="en-US" altLang="en-US" sz="2000" dirty="0"/>
              <a:t>Recognition of Electronic Documents</a:t>
            </a:r>
          </a:p>
          <a:p>
            <a:pPr lvl="2" eaLnBrk="1" hangingPunct="1"/>
            <a:r>
              <a:rPr lang="en-US" altLang="en-US" sz="2000" dirty="0"/>
              <a:t>Electronic Communications</a:t>
            </a:r>
          </a:p>
          <a:p>
            <a:pPr lvl="2" eaLnBrk="1" hangingPunct="1"/>
            <a:r>
              <a:rPr lang="en-US" altLang="en-US" sz="2000" dirty="0"/>
              <a:t>Digital Signature regime and its evidential consequences</a:t>
            </a:r>
          </a:p>
          <a:p>
            <a:pPr lvl="2" eaLnBrk="1" hangingPunct="1"/>
            <a:r>
              <a:rPr lang="fr-FR" altLang="en-US" sz="2000" dirty="0"/>
              <a:t>Web Site &amp; Digital Signatures Certification Providers</a:t>
            </a:r>
          </a:p>
          <a:p>
            <a:pPr lvl="2" eaLnBrk="1" hangingPunct="1"/>
            <a:r>
              <a:rPr lang="en-US" altLang="en-US" sz="2000" dirty="0"/>
              <a:t>Stamp Duty</a:t>
            </a:r>
          </a:p>
          <a:p>
            <a:pPr lvl="2" eaLnBrk="1" hangingPunct="1"/>
            <a:r>
              <a:rPr lang="en-US" altLang="en-US" sz="2000" dirty="0"/>
              <a:t>Attestation, notarization, certified copies</a:t>
            </a:r>
          </a:p>
          <a:p>
            <a:pPr lvl="2" eaLnBrk="1" hangingPunct="1"/>
            <a:r>
              <a:rPr lang="en-US" altLang="en-US" sz="2000" dirty="0"/>
              <a:t>Jurisdiction</a:t>
            </a:r>
          </a:p>
          <a:p>
            <a:pPr lvl="2" eaLnBrk="1" hangingPunct="1"/>
            <a:r>
              <a:rPr lang="en-US" altLang="en-US" sz="2000" dirty="0"/>
              <a:t>Offences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7386153-B97F-4891-B76E-8F1C6A024901}"/>
              </a:ext>
            </a:extLst>
          </p:cNvPr>
          <p:cNvSpPr>
            <a:spLocks noGrp="1"/>
          </p:cNvSpPr>
          <p:nvPr>
            <p:ph type="title"/>
          </p:nvPr>
        </p:nvSpPr>
        <p:spPr>
          <a:xfrm>
            <a:off x="259080" y="160567"/>
            <a:ext cx="10058400" cy="1371600"/>
          </a:xfrm>
        </p:spPr>
        <p:txBody>
          <a:bodyPr/>
          <a:lstStyle/>
          <a:p>
            <a:r>
              <a:rPr lang="en-US" dirty="0"/>
              <a:t>Important sections </a:t>
            </a:r>
            <a:endParaRPr lang="en-PK" dirty="0"/>
          </a:p>
        </p:txBody>
      </p:sp>
      <p:sp>
        <p:nvSpPr>
          <p:cNvPr id="7" name="Slide Number Placeholder 6">
            <a:extLst>
              <a:ext uri="{FF2B5EF4-FFF2-40B4-BE49-F238E27FC236}">
                <a16:creationId xmlns:a16="http://schemas.microsoft.com/office/drawing/2014/main" id="{1E8CF762-2AC7-43A0-9995-FF88774B90F6}"/>
              </a:ext>
            </a:extLst>
          </p:cNvPr>
          <p:cNvSpPr>
            <a:spLocks noGrp="1"/>
          </p:cNvSpPr>
          <p:nvPr>
            <p:ph type="sldNum" sz="quarter" idx="12"/>
          </p:nvPr>
        </p:nvSpPr>
        <p:spPr/>
        <p:txBody>
          <a:bodyPr/>
          <a:lstStyle/>
          <a:p>
            <a:fld id="{FA99160C-D4EA-4527-887A-60DA6E3DBCEB}" type="slidenum">
              <a:rPr lang="en-US" smtClean="0"/>
              <a:pPr/>
              <a:t>26</a:t>
            </a:fld>
            <a:endParaRPr lang="en-US"/>
          </a:p>
        </p:txBody>
      </p:sp>
      <p:graphicFrame>
        <p:nvGraphicFramePr>
          <p:cNvPr id="9" name="Table 9">
            <a:extLst>
              <a:ext uri="{FF2B5EF4-FFF2-40B4-BE49-F238E27FC236}">
                <a16:creationId xmlns:a16="http://schemas.microsoft.com/office/drawing/2014/main" id="{D3B6F044-232E-4559-97EE-1EBCAE073F44}"/>
              </a:ext>
            </a:extLst>
          </p:cNvPr>
          <p:cNvGraphicFramePr>
            <a:graphicFrameLocks noGrp="1"/>
          </p:cNvGraphicFramePr>
          <p:nvPr>
            <p:extLst>
              <p:ext uri="{D42A27DB-BD31-4B8C-83A1-F6EECF244321}">
                <p14:modId xmlns:p14="http://schemas.microsoft.com/office/powerpoint/2010/main" val="3779488790"/>
              </p:ext>
            </p:extLst>
          </p:nvPr>
        </p:nvGraphicFramePr>
        <p:xfrm>
          <a:off x="259080" y="1532167"/>
          <a:ext cx="11451906" cy="4594313"/>
        </p:xfrm>
        <a:graphic>
          <a:graphicData uri="http://schemas.openxmlformats.org/drawingml/2006/table">
            <a:tbl>
              <a:tblPr firstRow="1" bandRow="1">
                <a:tableStyleId>{72833802-FEF1-4C79-8D5D-14CF1EAF98D9}</a:tableStyleId>
              </a:tblPr>
              <a:tblGrid>
                <a:gridCol w="3817302">
                  <a:extLst>
                    <a:ext uri="{9D8B030D-6E8A-4147-A177-3AD203B41FA5}">
                      <a16:colId xmlns:a16="http://schemas.microsoft.com/office/drawing/2014/main" val="3196636997"/>
                    </a:ext>
                  </a:extLst>
                </a:gridCol>
                <a:gridCol w="3817302">
                  <a:extLst>
                    <a:ext uri="{9D8B030D-6E8A-4147-A177-3AD203B41FA5}">
                      <a16:colId xmlns:a16="http://schemas.microsoft.com/office/drawing/2014/main" val="1788665708"/>
                    </a:ext>
                  </a:extLst>
                </a:gridCol>
                <a:gridCol w="3817302">
                  <a:extLst>
                    <a:ext uri="{9D8B030D-6E8A-4147-A177-3AD203B41FA5}">
                      <a16:colId xmlns:a16="http://schemas.microsoft.com/office/drawing/2014/main" val="2433075505"/>
                    </a:ext>
                  </a:extLst>
                </a:gridCol>
              </a:tblGrid>
              <a:tr h="9367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36. Violation of privacy information</a:t>
                      </a:r>
                    </a:p>
                    <a:p>
                      <a:endParaRPr lang="en-PK"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US" sz="1800" dirty="0"/>
                        <a:t>37. Damage to information system, </a:t>
                      </a:r>
                      <a:r>
                        <a:rPr lang="en-US" altLang="en-US" sz="1800" dirty="0" err="1"/>
                        <a:t>etc</a:t>
                      </a:r>
                      <a:endParaRPr lang="en-PK"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38. Offences to be non-bailable, compoundable and cognizable</a:t>
                      </a:r>
                    </a:p>
                    <a:p>
                      <a:endParaRPr lang="en-PK"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4511389"/>
                  </a:ext>
                </a:extLst>
              </a:tr>
              <a:tr h="3344246">
                <a:tc>
                  <a:txBody>
                    <a:bodyPr/>
                    <a:lstStyle/>
                    <a:p>
                      <a:pPr lvl="2" algn="l" eaLnBrk="1" hangingPunct="1"/>
                      <a:r>
                        <a:rPr lang="en-US" altLang="en-US" sz="1800" dirty="0"/>
                        <a:t>gains or attempts to gain access to any information system with or without intent to acquire the information or Gain Knowledge</a:t>
                      </a:r>
                    </a:p>
                    <a:p>
                      <a:pPr lvl="2" eaLnBrk="1" hangingPunct="1"/>
                      <a:r>
                        <a:rPr lang="en-US" altLang="en-US" sz="1800" dirty="0"/>
                        <a:t>Imprisonment 7 years (custody)</a:t>
                      </a:r>
                    </a:p>
                    <a:p>
                      <a:pPr lvl="2" eaLnBrk="1" hangingPunct="1"/>
                      <a:r>
                        <a:rPr lang="en-US" altLang="en-US" sz="1800" dirty="0"/>
                        <a:t>Fine Rs. 1 million</a:t>
                      </a:r>
                    </a:p>
                    <a:p>
                      <a:endParaRPr lang="en-PK"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2" eaLnBrk="1" hangingPunct="1"/>
                      <a:r>
                        <a:rPr lang="en-US" altLang="en-US" sz="1800" dirty="0"/>
                        <a:t>alter, modify, delete, remove, generate, transmit or store information</a:t>
                      </a:r>
                    </a:p>
                    <a:p>
                      <a:pPr lvl="2" eaLnBrk="1" hangingPunct="1"/>
                      <a:r>
                        <a:rPr lang="en-US" altLang="en-US" sz="1800" dirty="0"/>
                        <a:t>to impair the operation of,</a:t>
                      </a:r>
                    </a:p>
                    <a:p>
                      <a:pPr lvl="2" eaLnBrk="1" hangingPunct="1"/>
                      <a:r>
                        <a:rPr lang="en-US" altLang="en-US" sz="1800" dirty="0"/>
                        <a:t>or prevent or hinder access to, information</a:t>
                      </a:r>
                    </a:p>
                    <a:p>
                      <a:pPr lvl="2" eaLnBrk="1" hangingPunct="1"/>
                      <a:r>
                        <a:rPr lang="en-US" altLang="en-US" sz="1800" dirty="0"/>
                        <a:t>knowingly not authorized</a:t>
                      </a:r>
                    </a:p>
                    <a:p>
                      <a:pPr lvl="2" eaLnBrk="1" hangingPunct="1"/>
                      <a:r>
                        <a:rPr lang="en-US" altLang="en-US" sz="1800" dirty="0"/>
                        <a:t>Imprisonment 7 years</a:t>
                      </a:r>
                    </a:p>
                    <a:p>
                      <a:pPr lvl="2" eaLnBrk="1" hangingPunct="1"/>
                      <a:r>
                        <a:rPr lang="en-US" altLang="en-US" sz="1800" dirty="0"/>
                        <a:t>Fine Rs. 1 million</a:t>
                      </a:r>
                    </a:p>
                    <a:p>
                      <a:endParaRPr lang="en-PK"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t>All offences under this Ordinance shall be non-bailable, compoundable and cognizable.</a:t>
                      </a:r>
                    </a:p>
                    <a:p>
                      <a:endParaRPr lang="en-PK"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8705776"/>
                  </a:ext>
                </a:extLst>
              </a:tr>
            </a:tbl>
          </a:graphicData>
        </a:graphic>
      </p:graphicFrame>
    </p:spTree>
    <p:extLst>
      <p:ext uri="{BB962C8B-B14F-4D97-AF65-F5344CB8AC3E}">
        <p14:creationId xmlns:p14="http://schemas.microsoft.com/office/powerpoint/2010/main" val="9485997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4728E5-5CD0-4734-A400-F8361C29F236}"/>
              </a:ext>
            </a:extLst>
          </p:cNvPr>
          <p:cNvSpPr>
            <a:spLocks noGrp="1"/>
          </p:cNvSpPr>
          <p:nvPr>
            <p:ph type="sldNum" sz="quarter" idx="12"/>
          </p:nvPr>
        </p:nvSpPr>
        <p:spPr/>
        <p:txBody>
          <a:bodyPr/>
          <a:lstStyle/>
          <a:p>
            <a:fld id="{FA99160C-D4EA-4527-887A-60DA6E3DBCEB}" type="slidenum">
              <a:rPr lang="en-US" smtClean="0"/>
              <a:pPr/>
              <a:t>27</a:t>
            </a:fld>
            <a:endParaRPr lang="en-US"/>
          </a:p>
        </p:txBody>
      </p:sp>
      <p:graphicFrame>
        <p:nvGraphicFramePr>
          <p:cNvPr id="10" name="Table 10">
            <a:extLst>
              <a:ext uri="{FF2B5EF4-FFF2-40B4-BE49-F238E27FC236}">
                <a16:creationId xmlns:a16="http://schemas.microsoft.com/office/drawing/2014/main" id="{B5F95709-9DB4-4C78-83BC-FA83DFBD4125}"/>
              </a:ext>
            </a:extLst>
          </p:cNvPr>
          <p:cNvGraphicFramePr>
            <a:graphicFrameLocks noGrp="1"/>
          </p:cNvGraphicFramePr>
          <p:nvPr>
            <p:extLst>
              <p:ext uri="{D42A27DB-BD31-4B8C-83A1-F6EECF244321}">
                <p14:modId xmlns:p14="http://schemas.microsoft.com/office/powerpoint/2010/main" val="1522851"/>
              </p:ext>
            </p:extLst>
          </p:nvPr>
        </p:nvGraphicFramePr>
        <p:xfrm>
          <a:off x="495300" y="1462617"/>
          <a:ext cx="11201400" cy="3596640"/>
        </p:xfrm>
        <a:graphic>
          <a:graphicData uri="http://schemas.openxmlformats.org/drawingml/2006/table">
            <a:tbl>
              <a:tblPr firstRow="1" bandRow="1">
                <a:tableStyleId>{69012ECD-51FC-41F1-AA8D-1B2483CD663E}</a:tableStyleId>
              </a:tblPr>
              <a:tblGrid>
                <a:gridCol w="5372100">
                  <a:extLst>
                    <a:ext uri="{9D8B030D-6E8A-4147-A177-3AD203B41FA5}">
                      <a16:colId xmlns:a16="http://schemas.microsoft.com/office/drawing/2014/main" val="2483121367"/>
                    </a:ext>
                  </a:extLst>
                </a:gridCol>
                <a:gridCol w="5829300">
                  <a:extLst>
                    <a:ext uri="{9D8B030D-6E8A-4147-A177-3AD203B41FA5}">
                      <a16:colId xmlns:a16="http://schemas.microsoft.com/office/drawing/2014/main" val="895716116"/>
                    </a:ext>
                  </a:extLst>
                </a:gridCol>
              </a:tblGrid>
              <a:tr h="6006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dirty="0"/>
                        <a:t>Pre-ETO 2002</a:t>
                      </a:r>
                      <a:endParaRPr lang="en-PK"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2000" b="1" dirty="0"/>
                        <a:t>Post ETO 2002</a:t>
                      </a:r>
                      <a:endParaRPr lang="en-PK" sz="2000" dirty="0"/>
                    </a:p>
                    <a:p>
                      <a:endParaRPr lang="en-PK"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7460946"/>
                  </a:ext>
                </a:extLst>
              </a:tr>
              <a:tr h="2865928">
                <a:tc>
                  <a:txBody>
                    <a:bodyPr/>
                    <a:lstStyle/>
                    <a:p>
                      <a:pPr eaLnBrk="1" hangingPunct="1">
                        <a:lnSpc>
                          <a:spcPct val="80000"/>
                        </a:lnSpc>
                      </a:pPr>
                      <a:r>
                        <a:rPr lang="en-US" altLang="en-US" sz="2000" dirty="0"/>
                        <a:t>No recognition of electronic documentation, electronic records and of evidential basis of documents/records.  Failure to authenticate or identify digital or electronic signatures or forms of authentication No online transaction could be legally binding Electronic Data &amp; Forensic Evidence not covered. No Rules</a:t>
                      </a:r>
                    </a:p>
                    <a:p>
                      <a:pPr marL="0" indent="0">
                        <a:buNone/>
                      </a:pPr>
                      <a:endParaRPr lang="en-PK" sz="2000" dirty="0"/>
                    </a:p>
                    <a:p>
                      <a:endParaRPr lang="en-PK"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eaLnBrk="1" hangingPunct="1"/>
                      <a:r>
                        <a:rPr lang="en-US" altLang="en-US" sz="2000" dirty="0"/>
                        <a:t>Electronic Documentation &amp; Records recognized</a:t>
                      </a:r>
                    </a:p>
                    <a:p>
                      <a:pPr eaLnBrk="1" hangingPunct="1"/>
                      <a:r>
                        <a:rPr lang="en-US" altLang="en-US" sz="2000" dirty="0"/>
                        <a:t>Electronic &amp; Digital forms of authentication &amp; identification given legal sanctity</a:t>
                      </a:r>
                    </a:p>
                    <a:p>
                      <a:pPr eaLnBrk="1" hangingPunct="1"/>
                      <a:r>
                        <a:rPr lang="en-US" altLang="en-US" sz="2000" dirty="0"/>
                        <a:t>Messages through email, fax, mobile phones, Plastic Cards, Online recognized.</a:t>
                      </a:r>
                    </a:p>
                    <a:p>
                      <a:pPr marL="0" indent="0">
                        <a:buNone/>
                      </a:pPr>
                      <a:endParaRPr lang="en-PK" sz="2000" dirty="0"/>
                    </a:p>
                    <a:p>
                      <a:endParaRPr lang="en-PK"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7447090"/>
                  </a:ext>
                </a:extLst>
              </a:tr>
            </a:tbl>
          </a:graphicData>
        </a:graphic>
      </p:graphicFrame>
    </p:spTree>
    <p:extLst>
      <p:ext uri="{BB962C8B-B14F-4D97-AF65-F5344CB8AC3E}">
        <p14:creationId xmlns:p14="http://schemas.microsoft.com/office/powerpoint/2010/main" val="432954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a:extLst>
              <a:ext uri="{FF2B5EF4-FFF2-40B4-BE49-F238E27FC236}">
                <a16:creationId xmlns:a16="http://schemas.microsoft.com/office/drawing/2014/main" id="{4EBD224B-989D-4EAD-A417-86937A22708F}"/>
              </a:ext>
            </a:extLst>
          </p:cNvPr>
          <p:cNvSpPr>
            <a:spLocks noGrp="1" noChangeArrowheads="1"/>
          </p:cNvSpPr>
          <p:nvPr>
            <p:ph type="ctrTitle"/>
          </p:nvPr>
        </p:nvSpPr>
        <p:spPr>
          <a:xfrm>
            <a:off x="557213" y="2659357"/>
            <a:ext cx="11029949" cy="1986365"/>
          </a:xfrm>
          <a:noFill/>
        </p:spPr>
        <p:txBody>
          <a:bodyPr anchor="ctr">
            <a:noAutofit/>
          </a:bodyPr>
          <a:lstStyle/>
          <a:p>
            <a:r>
              <a:rPr lang="en-US" altLang="en-US" sz="5400" b="1" dirty="0"/>
              <a:t>2. Electronic/Cyber Crime Bill 2007</a:t>
            </a:r>
            <a:br>
              <a:rPr lang="en-PK" sz="5400" b="1" dirty="0"/>
            </a:br>
            <a:endParaRPr lang="en-US" altLang="en-US" sz="54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C33142B9-B258-4BD6-9907-FFE1575F1C4F}"/>
              </a:ext>
            </a:extLst>
          </p:cNvPr>
          <p:cNvSpPr>
            <a:spLocks noGrp="1" noChangeArrowheads="1"/>
          </p:cNvSpPr>
          <p:nvPr>
            <p:ph type="title"/>
          </p:nvPr>
        </p:nvSpPr>
        <p:spPr/>
        <p:txBody>
          <a:bodyPr/>
          <a:lstStyle/>
          <a:p>
            <a:r>
              <a:rPr lang="en-US" altLang="en-US" b="1" dirty="0"/>
              <a:t>Electronic/Cyber Crime Bill 2007</a:t>
            </a:r>
            <a:endParaRPr lang="en-PK" b="1" dirty="0"/>
          </a:p>
        </p:txBody>
      </p:sp>
      <p:sp>
        <p:nvSpPr>
          <p:cNvPr id="33795" name="Rectangle 3">
            <a:extLst>
              <a:ext uri="{FF2B5EF4-FFF2-40B4-BE49-F238E27FC236}">
                <a16:creationId xmlns:a16="http://schemas.microsoft.com/office/drawing/2014/main" id="{8B984415-C147-47A7-9AA1-0D295B174410}"/>
              </a:ext>
            </a:extLst>
          </p:cNvPr>
          <p:cNvSpPr>
            <a:spLocks noGrp="1" noChangeArrowheads="1"/>
          </p:cNvSpPr>
          <p:nvPr>
            <p:ph idx="1"/>
          </p:nvPr>
        </p:nvSpPr>
        <p:spPr>
          <a:xfrm>
            <a:off x="700088" y="2386013"/>
            <a:ext cx="11072812" cy="3829394"/>
          </a:xfrm>
        </p:spPr>
        <p:txBody>
          <a:bodyPr>
            <a:normAutofit/>
          </a:bodyPr>
          <a:lstStyle/>
          <a:p>
            <a:pPr eaLnBrk="1" hangingPunct="1">
              <a:lnSpc>
                <a:spcPct val="90000"/>
              </a:lnSpc>
            </a:pPr>
            <a:r>
              <a:rPr lang="en-US" altLang="en-US" sz="2800" dirty="0"/>
              <a:t>It was promulgated by the President of Pakistan on the 31st December 2007</a:t>
            </a:r>
          </a:p>
          <a:p>
            <a:pPr>
              <a:lnSpc>
                <a:spcPct val="90000"/>
              </a:lnSpc>
            </a:pPr>
            <a:r>
              <a:rPr lang="en-US" altLang="en-US" sz="2800" dirty="0"/>
              <a:t>It gives exclusive powers to the Federal Investigation Agency (FIA) to investigate and charge cases against such crimes.</a:t>
            </a:r>
          </a:p>
          <a:p>
            <a:pPr eaLnBrk="1" hangingPunct="1">
              <a:lnSpc>
                <a:spcPct val="90000"/>
              </a:lnSpc>
            </a:pPr>
            <a:endParaRPr lang="en-US" altLang="en-US" sz="2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95271B8B-3B8A-44C5-B2B1-7E88DA590426}"/>
              </a:ext>
            </a:extLst>
          </p:cNvPr>
          <p:cNvSpPr>
            <a:spLocks noGrp="1" noChangeArrowheads="1"/>
          </p:cNvSpPr>
          <p:nvPr>
            <p:ph type="title"/>
          </p:nvPr>
        </p:nvSpPr>
        <p:spPr/>
        <p:txBody>
          <a:bodyPr/>
          <a:lstStyle/>
          <a:p>
            <a:pPr eaLnBrk="1" hangingPunct="1"/>
            <a:r>
              <a:rPr lang="en-US" altLang="en-US" b="1" dirty="0"/>
              <a:t>Electronic/Cyber Crime Bill 2007</a:t>
            </a:r>
          </a:p>
        </p:txBody>
      </p:sp>
      <p:sp>
        <p:nvSpPr>
          <p:cNvPr id="35843" name="Rectangle 3">
            <a:extLst>
              <a:ext uri="{FF2B5EF4-FFF2-40B4-BE49-F238E27FC236}">
                <a16:creationId xmlns:a16="http://schemas.microsoft.com/office/drawing/2014/main" id="{667683CB-1937-46E8-B079-46FA63E9469A}"/>
              </a:ext>
            </a:extLst>
          </p:cNvPr>
          <p:cNvSpPr>
            <a:spLocks noGrp="1" noChangeArrowheads="1"/>
          </p:cNvSpPr>
          <p:nvPr>
            <p:ph idx="1"/>
          </p:nvPr>
        </p:nvSpPr>
        <p:spPr/>
        <p:txBody>
          <a:bodyPr>
            <a:normAutofit/>
          </a:bodyPr>
          <a:lstStyle/>
          <a:p>
            <a:pPr eaLnBrk="1" hangingPunct="1">
              <a:lnSpc>
                <a:spcPct val="90000"/>
              </a:lnSpc>
            </a:pPr>
            <a:r>
              <a:rPr lang="en-US" altLang="en-US" sz="2600" dirty="0"/>
              <a:t>The bill deals with the electronic crimes included:</a:t>
            </a:r>
          </a:p>
          <a:p>
            <a:pPr lvl="1" eaLnBrk="1" hangingPunct="1">
              <a:lnSpc>
                <a:spcPct val="90000"/>
              </a:lnSpc>
            </a:pPr>
            <a:r>
              <a:rPr lang="en-US" altLang="en-US" sz="2200" dirty="0"/>
              <a:t>Cyber terrorism</a:t>
            </a:r>
          </a:p>
          <a:p>
            <a:pPr lvl="1" eaLnBrk="1" hangingPunct="1">
              <a:lnSpc>
                <a:spcPct val="90000"/>
              </a:lnSpc>
            </a:pPr>
            <a:r>
              <a:rPr lang="en-US" altLang="en-US" sz="2200" dirty="0"/>
              <a:t>Data damage</a:t>
            </a:r>
          </a:p>
          <a:p>
            <a:pPr lvl="1" eaLnBrk="1" hangingPunct="1">
              <a:lnSpc>
                <a:spcPct val="90000"/>
              </a:lnSpc>
            </a:pPr>
            <a:r>
              <a:rPr lang="en-US" altLang="en-US" sz="2200" dirty="0"/>
              <a:t>Electronic fraud</a:t>
            </a:r>
          </a:p>
          <a:p>
            <a:pPr lvl="1" eaLnBrk="1" hangingPunct="1">
              <a:lnSpc>
                <a:spcPct val="90000"/>
              </a:lnSpc>
            </a:pPr>
            <a:r>
              <a:rPr lang="en-US" altLang="en-US" sz="2200" dirty="0"/>
              <a:t>Electronic forgery</a:t>
            </a:r>
          </a:p>
          <a:p>
            <a:pPr lvl="1" eaLnBrk="1" hangingPunct="1">
              <a:lnSpc>
                <a:spcPct val="90000"/>
              </a:lnSpc>
            </a:pPr>
            <a:r>
              <a:rPr lang="en-US" altLang="en-US" sz="2200" dirty="0"/>
              <a:t>Unauthorized access to code</a:t>
            </a:r>
          </a:p>
          <a:p>
            <a:pPr lvl="1" eaLnBrk="1" hangingPunct="1">
              <a:lnSpc>
                <a:spcPct val="90000"/>
              </a:lnSpc>
            </a:pPr>
            <a:r>
              <a:rPr lang="en-US" altLang="en-US" sz="2200" dirty="0"/>
              <a:t>Cyber stalking</a:t>
            </a:r>
          </a:p>
          <a:p>
            <a:pPr lvl="1" eaLnBrk="1" hangingPunct="1">
              <a:lnSpc>
                <a:spcPct val="90000"/>
              </a:lnSpc>
            </a:pPr>
            <a:r>
              <a:rPr lang="en-US" altLang="en-US" sz="2200" dirty="0"/>
              <a:t>Cyber Spamming/spoofing</a:t>
            </a:r>
          </a:p>
          <a:p>
            <a:pPr eaLnBrk="1" hangingPunct="1">
              <a:lnSpc>
                <a:spcPct val="90000"/>
              </a:lnSpc>
            </a:pPr>
            <a:endParaRPr lang="en-US" alt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A3762C3A-1C1E-4E4D-98B6-36EF40E1BF7E}"/>
              </a:ext>
            </a:extLst>
          </p:cNvPr>
          <p:cNvSpPr>
            <a:spLocks noGrp="1" noChangeArrowheads="1"/>
          </p:cNvSpPr>
          <p:nvPr>
            <p:ph type="title"/>
          </p:nvPr>
        </p:nvSpPr>
        <p:spPr/>
        <p:txBody>
          <a:bodyPr/>
          <a:lstStyle/>
          <a:p>
            <a:pPr eaLnBrk="1" hangingPunct="1"/>
            <a:r>
              <a:rPr lang="en-US" altLang="en-US" b="1" dirty="0"/>
              <a:t>Punishments</a:t>
            </a:r>
          </a:p>
        </p:txBody>
      </p:sp>
      <p:sp>
        <p:nvSpPr>
          <p:cNvPr id="36867" name="Rectangle 3">
            <a:extLst>
              <a:ext uri="{FF2B5EF4-FFF2-40B4-BE49-F238E27FC236}">
                <a16:creationId xmlns:a16="http://schemas.microsoft.com/office/drawing/2014/main" id="{F1E17EBC-CA63-4076-8C7B-3E963F393FB5}"/>
              </a:ext>
            </a:extLst>
          </p:cNvPr>
          <p:cNvSpPr>
            <a:spLocks noGrp="1" noChangeArrowheads="1"/>
          </p:cNvSpPr>
          <p:nvPr>
            <p:ph idx="1"/>
          </p:nvPr>
        </p:nvSpPr>
        <p:spPr>
          <a:xfrm>
            <a:off x="657225" y="1843088"/>
            <a:ext cx="11191876" cy="4390801"/>
          </a:xfrm>
        </p:spPr>
        <p:txBody>
          <a:bodyPr>
            <a:normAutofit/>
          </a:bodyPr>
          <a:lstStyle/>
          <a:p>
            <a:endParaRPr lang="en-US" altLang="en-US" dirty="0"/>
          </a:p>
          <a:p>
            <a:r>
              <a:rPr lang="en-US" altLang="en-US" dirty="0"/>
              <a:t>Spreading false information about an individual: </a:t>
            </a:r>
          </a:p>
          <a:p>
            <a:pPr lvl="1"/>
            <a:r>
              <a:rPr lang="en-US" altLang="en-US" dirty="0"/>
              <a:t>up to 3 years in prison or up to PKR 1 million in fine, or both</a:t>
            </a:r>
          </a:p>
          <a:p>
            <a:r>
              <a:rPr lang="en-US" altLang="en-US" dirty="0"/>
              <a:t>Making videos/taking photographs and distributing them without consent: </a:t>
            </a:r>
          </a:p>
          <a:p>
            <a:pPr lvl="1"/>
            <a:r>
              <a:rPr lang="en-US" altLang="en-US" dirty="0"/>
              <a:t>up to 3 years in prison or up to PKR 1 million in fine, or both – </a:t>
            </a:r>
          </a:p>
          <a:p>
            <a:pPr eaLnBrk="1" hangingPunct="1"/>
            <a:r>
              <a:rPr lang="en-US" altLang="en-US" dirty="0"/>
              <a:t>Electronic fraud: Use any data, electronic system or device or with intent to deceive any person</a:t>
            </a:r>
          </a:p>
          <a:p>
            <a:pPr lvl="1" eaLnBrk="1" hangingPunct="1"/>
            <a:r>
              <a:rPr lang="en-US" altLang="en-US" dirty="0"/>
              <a:t>7 years and/or 7 lac fine</a:t>
            </a:r>
          </a:p>
          <a:p>
            <a:r>
              <a:rPr lang="en-US" altLang="en-US" dirty="0"/>
              <a:t>Electronic Forgery: altering pictures, images, documents, and music perhaps. </a:t>
            </a:r>
          </a:p>
          <a:p>
            <a:pPr lvl="1" eaLnBrk="1" hangingPunct="1"/>
            <a:r>
              <a:rPr lang="en-US" altLang="en-US" dirty="0"/>
              <a:t>7years and/or 7 lac fine</a:t>
            </a:r>
          </a:p>
          <a:p>
            <a:pPr eaLnBrk="1" hangingPunct="1"/>
            <a:r>
              <a:rPr lang="en-US" altLang="en-US" dirty="0"/>
              <a:t>Malicious code: transmits malicious code through an electronic system or device, Punishment:</a:t>
            </a:r>
          </a:p>
          <a:p>
            <a:pPr lvl="1" eaLnBrk="1" hangingPunct="1"/>
            <a:r>
              <a:rPr lang="en-US" altLang="en-US" dirty="0"/>
              <a:t>5 years and/or 5 Lac</a:t>
            </a:r>
          </a:p>
          <a:p>
            <a:pPr lvl="1" eaLnBrk="1" hangingPunct="1"/>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B5A2F17A-26D7-44C7-A41A-47D32F83C728}"/>
              </a:ext>
            </a:extLst>
          </p:cNvPr>
          <p:cNvSpPr>
            <a:spLocks noGrp="1" noChangeArrowheads="1"/>
          </p:cNvSpPr>
          <p:nvPr>
            <p:ph type="title"/>
          </p:nvPr>
        </p:nvSpPr>
        <p:spPr/>
        <p:txBody>
          <a:bodyPr/>
          <a:lstStyle/>
          <a:p>
            <a:pPr eaLnBrk="1" hangingPunct="1"/>
            <a:r>
              <a:rPr lang="en-US" altLang="en-US" b="1" dirty="0"/>
              <a:t>Punishments</a:t>
            </a:r>
            <a:endParaRPr lang="en-US" altLang="en-US" b="1" dirty="0">
              <a:solidFill>
                <a:schemeClr val="tx1"/>
              </a:solidFill>
            </a:endParaRPr>
          </a:p>
        </p:txBody>
      </p:sp>
      <p:sp>
        <p:nvSpPr>
          <p:cNvPr id="48131" name="Rectangle 3">
            <a:extLst>
              <a:ext uri="{FF2B5EF4-FFF2-40B4-BE49-F238E27FC236}">
                <a16:creationId xmlns:a16="http://schemas.microsoft.com/office/drawing/2014/main" id="{3D8A63FC-C7F1-4A4A-B532-6798EFE80840}"/>
              </a:ext>
            </a:extLst>
          </p:cNvPr>
          <p:cNvSpPr>
            <a:spLocks noGrp="1" noChangeArrowheads="1"/>
          </p:cNvSpPr>
          <p:nvPr>
            <p:ph idx="1"/>
          </p:nvPr>
        </p:nvSpPr>
        <p:spPr/>
        <p:txBody>
          <a:bodyPr>
            <a:normAutofit/>
          </a:bodyPr>
          <a:lstStyle/>
          <a:p>
            <a:pPr eaLnBrk="1" hangingPunct="1"/>
            <a:r>
              <a:rPr lang="en-US" altLang="en-US" dirty="0"/>
              <a:t>Cyber stalking: Commits the offence of cyber stalking.</a:t>
            </a:r>
          </a:p>
          <a:p>
            <a:pPr lvl="1" eaLnBrk="1" hangingPunct="1"/>
            <a:r>
              <a:rPr lang="en-US" altLang="en-US" dirty="0"/>
              <a:t>3 Years and 3 Lac</a:t>
            </a:r>
          </a:p>
          <a:p>
            <a:pPr eaLnBrk="1" hangingPunct="1"/>
            <a:r>
              <a:rPr lang="en-US" altLang="en-US" dirty="0"/>
              <a:t>Spamming: whoever transmits harmful, fraudulent, or unsolicited electronic messages in bulk to any person 6 month</a:t>
            </a:r>
          </a:p>
          <a:p>
            <a:pPr lvl="1" eaLnBrk="1" hangingPunct="1"/>
            <a:r>
              <a:rPr lang="en-US" altLang="en-US" dirty="0"/>
              <a:t>50,000</a:t>
            </a:r>
          </a:p>
          <a:p>
            <a:pPr eaLnBrk="1" hangingPunct="1"/>
            <a:r>
              <a:rPr lang="en-US" altLang="en-US" dirty="0"/>
              <a:t>Spoofing: with intent to gain unauthorized access or obtain valuable information</a:t>
            </a:r>
          </a:p>
          <a:p>
            <a:pPr lvl="1" eaLnBrk="1" hangingPunct="1"/>
            <a:r>
              <a:rPr lang="en-US" altLang="en-US" dirty="0"/>
              <a:t>3 Years and 3 Lac</a:t>
            </a:r>
          </a:p>
          <a:p>
            <a:pPr eaLnBrk="1" hangingPunct="1">
              <a:lnSpc>
                <a:spcPct val="80000"/>
              </a:lnSpc>
              <a:defRPr/>
            </a:pPr>
            <a:r>
              <a:rPr lang="en-US" dirty="0"/>
              <a:t>Cyber terrorism attempts to engage in a terroristic act</a:t>
            </a:r>
          </a:p>
          <a:p>
            <a:pPr lvl="1" eaLnBrk="1" hangingPunct="1">
              <a:lnSpc>
                <a:spcPct val="80000"/>
              </a:lnSpc>
              <a:defRPr/>
            </a:pPr>
            <a:r>
              <a:rPr lang="en-US" dirty="0"/>
              <a:t>Death, life time jail</a:t>
            </a:r>
          </a:p>
          <a:p>
            <a:pPr lvl="1" eaLnBrk="1" hangingPunct="1"/>
            <a:endParaRPr lang="en-US" altLang="en-US" sz="2200" dirty="0"/>
          </a:p>
          <a:p>
            <a:pPr lvl="1" eaLnBrk="1" hangingPunct="1"/>
            <a:endParaRPr lang="en-US" alt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640" name="Group 944">
            <a:extLst>
              <a:ext uri="{FF2B5EF4-FFF2-40B4-BE49-F238E27FC236}">
                <a16:creationId xmlns:a16="http://schemas.microsoft.com/office/drawing/2014/main" id="{D91F15C8-860F-428F-AE91-FBE271F7C3DA}"/>
              </a:ext>
            </a:extLst>
          </p:cNvPr>
          <p:cNvGraphicFramePr>
            <a:graphicFrameLocks noGrp="1"/>
          </p:cNvGraphicFramePr>
          <p:nvPr>
            <p:extLst>
              <p:ext uri="{D42A27DB-BD31-4B8C-83A1-F6EECF244321}">
                <p14:modId xmlns:p14="http://schemas.microsoft.com/office/powerpoint/2010/main" val="3731164940"/>
              </p:ext>
            </p:extLst>
          </p:nvPr>
        </p:nvGraphicFramePr>
        <p:xfrm>
          <a:off x="2057400" y="319048"/>
          <a:ext cx="8077200" cy="6219904"/>
        </p:xfrm>
        <a:graphic>
          <a:graphicData uri="http://schemas.openxmlformats.org/drawingml/2006/table">
            <a:tbl>
              <a:tblPr>
                <a:tableStyleId>{5940675A-B579-460E-94D1-54222C63F5DA}</a:tableStyleId>
              </a:tblPr>
              <a:tblGrid>
                <a:gridCol w="3513138">
                  <a:extLst>
                    <a:ext uri="{9D8B030D-6E8A-4147-A177-3AD203B41FA5}">
                      <a16:colId xmlns:a16="http://schemas.microsoft.com/office/drawing/2014/main" val="20000"/>
                    </a:ext>
                  </a:extLst>
                </a:gridCol>
                <a:gridCol w="2727325">
                  <a:extLst>
                    <a:ext uri="{9D8B030D-6E8A-4147-A177-3AD203B41FA5}">
                      <a16:colId xmlns:a16="http://schemas.microsoft.com/office/drawing/2014/main" val="20001"/>
                    </a:ext>
                  </a:extLst>
                </a:gridCol>
                <a:gridCol w="1836737">
                  <a:extLst>
                    <a:ext uri="{9D8B030D-6E8A-4147-A177-3AD203B41FA5}">
                      <a16:colId xmlns:a16="http://schemas.microsoft.com/office/drawing/2014/main" val="20002"/>
                    </a:ext>
                  </a:extLst>
                </a:gridCol>
              </a:tblGrid>
              <a:tr h="67434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2000" b="1" u="none" strike="noStrike" cap="none" normalizeH="0" baseline="0" dirty="0">
                          <a:ln>
                            <a:noFill/>
                          </a:ln>
                          <a:solidFill>
                            <a:schemeClr val="tx1"/>
                          </a:solidFill>
                          <a:effectLst/>
                        </a:rPr>
                        <a:t>Offence</a:t>
                      </a:r>
                      <a:endParaRPr kumimoji="0" lang="en-US" sz="2600" b="1" i="0" u="none" strike="noStrike" cap="none" normalizeH="0" baseline="0" dirty="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2000" b="1" u="none" strike="noStrike" cap="none" normalizeH="0" baseline="0" dirty="0">
                          <a:ln>
                            <a:noFill/>
                          </a:ln>
                          <a:solidFill>
                            <a:schemeClr val="tx1"/>
                          </a:solidFill>
                          <a:effectLst/>
                        </a:rPr>
                        <a:t>Imprisonment (years)</a:t>
                      </a:r>
                      <a:endParaRPr kumimoji="0" lang="en-US" sz="2600" b="1" i="0" u="none" strike="noStrike" cap="none" normalizeH="0" baseline="0" dirty="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2000" b="1" u="none" strike="noStrike" cap="none" normalizeH="0" baseline="0">
                          <a:ln>
                            <a:noFill/>
                          </a:ln>
                          <a:solidFill>
                            <a:schemeClr val="tx1"/>
                          </a:solidFill>
                          <a:effectLst/>
                        </a:rPr>
                        <a:t>Fine</a:t>
                      </a:r>
                      <a:endParaRPr kumimoji="0" lang="en-US" sz="2600" b="1"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00"/>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Criminal Access</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01"/>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Criminal Data Access</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02"/>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Data Damage</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03"/>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System Damage</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04"/>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Electronic Fraud</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7</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7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05"/>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Electronic Forgery</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7</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7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06"/>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Misuse of Device</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07"/>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Unauthorized access to code</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08"/>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Malicious code</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5</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5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09"/>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Defamation</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5</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5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10"/>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Cyber stalking</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11"/>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Cyber Spamming</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6 months</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50,000</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12"/>
                  </a:ext>
                </a:extLst>
              </a:tr>
              <a:tr h="33716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Spoofing</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3 Lac</a:t>
                      </a:r>
                      <a:endParaRPr kumimoji="0" lang="en-US" sz="22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13"/>
                  </a:ext>
                </a:extLst>
              </a:tr>
              <a:tr h="48119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Pornography</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dirty="0">
                          <a:ln>
                            <a:noFill/>
                          </a:ln>
                          <a:solidFill>
                            <a:schemeClr val="tx1"/>
                          </a:solidFill>
                          <a:effectLst/>
                        </a:rPr>
                        <a:t>10</a:t>
                      </a:r>
                      <a:endParaRPr kumimoji="0" lang="en-US" sz="2200" b="0" i="0" u="none" strike="noStrike" cap="none" normalizeH="0" baseline="0" dirty="0">
                        <a:ln>
                          <a:noFill/>
                        </a:ln>
                        <a:solidFill>
                          <a:schemeClr val="tx1"/>
                        </a:solidFill>
                        <a:effectLst/>
                        <a:latin typeface="Arial" charset="0"/>
                      </a:endParaRPr>
                    </a:p>
                  </a:txBody>
                  <a:tcPr marT="45710" marB="4571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0" u="none" strike="noStrike" cap="none" normalizeH="0" baseline="0">
                          <a:ln>
                            <a:noFill/>
                          </a:ln>
                          <a:solidFill>
                            <a:schemeClr val="tx1"/>
                          </a:solidFill>
                          <a:effectLst/>
                        </a:rPr>
                        <a:t>-----</a:t>
                      </a:r>
                      <a:endParaRPr kumimoji="0" lang="en-US" sz="1700" b="0" i="0" u="none" strike="noStrike" cap="none" normalizeH="0" baseline="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14"/>
                  </a:ext>
                </a:extLst>
              </a:tr>
              <a:tr h="481192">
                <a:tc>
                  <a:txBody>
                    <a:bodyPr/>
                    <a:lstStyle/>
                    <a:p>
                      <a:pPr marL="342900" marR="0" lvl="0" indent="-342900" algn="just"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Cyber terrorism</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342900" marR="0" lvl="0" indent="-342900" algn="ctr" defTabSz="914400" rtl="0" eaLnBrk="1" fontAlgn="base" latinLnBrk="0" hangingPunct="1">
                        <a:lnSpc>
                          <a:spcPct val="100000"/>
                        </a:lnSpc>
                        <a:spcBef>
                          <a:spcPct val="0"/>
                        </a:spcBef>
                        <a:spcAft>
                          <a:spcPct val="0"/>
                        </a:spcAft>
                        <a:buClrTx/>
                        <a:buSzTx/>
                        <a:buFont typeface="Arial" charset="0"/>
                        <a:buNone/>
                        <a:tabLst/>
                      </a:pPr>
                      <a:r>
                        <a:rPr kumimoji="0" lang="en-US" sz="1700" b="0" u="none" strike="noStrike" cap="none" normalizeH="0" baseline="0">
                          <a:ln>
                            <a:noFill/>
                          </a:ln>
                          <a:solidFill>
                            <a:schemeClr val="tx1"/>
                          </a:solidFill>
                          <a:effectLst/>
                        </a:rPr>
                        <a:t>Life</a:t>
                      </a:r>
                      <a:endParaRPr kumimoji="0" lang="en-US" sz="2200" b="0" i="0" u="none" strike="noStrike" cap="none" normalizeH="0" baseline="0">
                        <a:ln>
                          <a:noFill/>
                        </a:ln>
                        <a:solidFill>
                          <a:schemeClr val="tx1"/>
                        </a:solidFill>
                        <a:effectLst/>
                        <a:latin typeface="Arial" charset="0"/>
                      </a:endParaRPr>
                    </a:p>
                  </a:txBody>
                  <a:tcPr marT="45710" marB="45710"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700" b="0" u="none" strike="noStrike" cap="none" normalizeH="0" baseline="0" dirty="0">
                          <a:ln>
                            <a:noFill/>
                          </a:ln>
                          <a:solidFill>
                            <a:schemeClr val="tx1"/>
                          </a:solidFill>
                          <a:effectLst/>
                        </a:rPr>
                        <a:t>10 Million</a:t>
                      </a:r>
                      <a:endParaRPr kumimoji="0" lang="en-US" sz="1700" b="0" i="0" u="none" strike="noStrike" cap="none" normalizeH="0" baseline="0" dirty="0">
                        <a:ln>
                          <a:noFill/>
                        </a:ln>
                        <a:solidFill>
                          <a:schemeClr val="tx1"/>
                        </a:solidFill>
                        <a:effectLst/>
                        <a:latin typeface="Arial" charset="0"/>
                      </a:endParaRPr>
                    </a:p>
                  </a:txBody>
                  <a:tcPr marT="45710" marB="45710" horzOverflow="overflow"/>
                </a:tc>
                <a:extLst>
                  <a:ext uri="{0D108BD9-81ED-4DB2-BD59-A6C34878D82A}">
                    <a16:rowId xmlns:a16="http://schemas.microsoft.com/office/drawing/2014/main" val="1001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235F36EF-42AB-41A9-8535-CD9771E7F741}"/>
              </a:ext>
            </a:extLst>
          </p:cNvPr>
          <p:cNvSpPr>
            <a:spLocks noGrp="1" noChangeArrowheads="1"/>
          </p:cNvSpPr>
          <p:nvPr>
            <p:ph type="title"/>
          </p:nvPr>
        </p:nvSpPr>
        <p:spPr/>
        <p:txBody>
          <a:bodyPr/>
          <a:lstStyle/>
          <a:p>
            <a:pPr eaLnBrk="1" hangingPunct="1"/>
            <a:r>
              <a:rPr lang="en-US" altLang="en-US"/>
              <a:t>Crimes Reported in Pakistan</a:t>
            </a:r>
          </a:p>
        </p:txBody>
      </p:sp>
      <p:pic>
        <p:nvPicPr>
          <p:cNvPr id="54275" name="Picture 4">
            <a:extLst>
              <a:ext uri="{FF2B5EF4-FFF2-40B4-BE49-F238E27FC236}">
                <a16:creationId xmlns:a16="http://schemas.microsoft.com/office/drawing/2014/main" id="{3089B8CA-1236-4FAC-80AA-E86E272F37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5449" y="1417636"/>
            <a:ext cx="8420101"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66C7F796-4870-2107-D384-3677A5E14101}"/>
              </a:ext>
            </a:extLst>
          </p:cNvPr>
          <p:cNvSpPr>
            <a:spLocks noGrp="1" noChangeArrowheads="1"/>
          </p:cNvSpPr>
          <p:nvPr>
            <p:ph type="title"/>
          </p:nvPr>
        </p:nvSpPr>
        <p:spPr>
          <a:xfrm>
            <a:off x="381000" y="434976"/>
            <a:ext cx="11582400" cy="1139825"/>
          </a:xfrm>
        </p:spPr>
        <p:txBody>
          <a:bodyPr>
            <a:normAutofit fontScale="90000"/>
          </a:bodyPr>
          <a:lstStyle/>
          <a:p>
            <a:r>
              <a:rPr lang="en-US" altLang="en-US" dirty="0"/>
              <a:t>Class Activity: Cyber Ethics &amp; Law in Action</a:t>
            </a:r>
          </a:p>
        </p:txBody>
      </p:sp>
      <p:sp>
        <p:nvSpPr>
          <p:cNvPr id="69635" name="TextBox 5">
            <a:extLst>
              <a:ext uri="{FF2B5EF4-FFF2-40B4-BE49-F238E27FC236}">
                <a16:creationId xmlns:a16="http://schemas.microsoft.com/office/drawing/2014/main" id="{411B2C51-4512-0A4B-44FB-9A99FF9A7F01}"/>
              </a:ext>
            </a:extLst>
          </p:cNvPr>
          <p:cNvSpPr txBox="1">
            <a:spLocks noChangeArrowheads="1"/>
          </p:cNvSpPr>
          <p:nvPr/>
        </p:nvSpPr>
        <p:spPr bwMode="auto">
          <a:xfrm>
            <a:off x="609600" y="1720850"/>
            <a:ext cx="113538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2400" b="1" dirty="0"/>
              <a:t>Scenario (Case Study)</a:t>
            </a:r>
          </a:p>
          <a:p>
            <a:pPr eaLnBrk="1" hangingPunct="1"/>
            <a:r>
              <a:rPr lang="en-US" altLang="en-US" sz="2400" dirty="0"/>
              <a:t>A final-year Software Engineering student, Ali, develops a mobile banking app for his semester project. The app works smoothly, but Ali secretly adds a hidden feature that collects users’ CNIC numbers and credit card details and sends them to his personal server.</a:t>
            </a:r>
          </a:p>
          <a:p>
            <a:pPr eaLnBrk="1" hangingPunct="1"/>
            <a:r>
              <a:rPr lang="en-US" altLang="en-US" sz="2400" dirty="0"/>
              <a:t>A few months later, some users face financial fraud. FIA’s National Response Centre for Cyber Crime (NR3C) traces the leak back to Ali’s app. He claims:</a:t>
            </a:r>
          </a:p>
          <a:p>
            <a:pPr eaLnBrk="1" hangingPunct="1">
              <a:buFont typeface="Arial" panose="020B0604020202020204" pitchFamily="34" charset="0"/>
              <a:buChar char="•"/>
            </a:pPr>
            <a:r>
              <a:rPr lang="en-US" altLang="en-US" sz="2400" dirty="0"/>
              <a:t>“It was just for testing.”</a:t>
            </a:r>
          </a:p>
          <a:p>
            <a:pPr eaLnBrk="1" hangingPunct="1">
              <a:buFont typeface="Arial" panose="020B0604020202020204" pitchFamily="34" charset="0"/>
              <a:buChar char="•"/>
            </a:pPr>
            <a:r>
              <a:rPr lang="en-US" altLang="en-US" sz="2400" dirty="0"/>
              <a:t>“I didn’t use the data for myself.”</a:t>
            </a:r>
          </a:p>
          <a:p>
            <a:pPr eaLnBrk="1" hangingPunct="1">
              <a:buFont typeface="Arial" panose="020B0604020202020204" pitchFamily="34" charset="0"/>
              <a:buChar char="•"/>
            </a:pPr>
            <a:r>
              <a:rPr lang="en-US" altLang="en-US" sz="2400" dirty="0"/>
              <a:t>“I didn’t know it was illegal since I am a student.”</a:t>
            </a:r>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a:extLst>
              <a:ext uri="{FF2B5EF4-FFF2-40B4-BE49-F238E27FC236}">
                <a16:creationId xmlns:a16="http://schemas.microsoft.com/office/drawing/2014/main" id="{94D16095-1D72-67FA-D4D3-F143989BA4E3}"/>
              </a:ext>
            </a:extLst>
          </p:cNvPr>
          <p:cNvSpPr>
            <a:spLocks noGrp="1" noChangeArrowheads="1"/>
          </p:cNvSpPr>
          <p:nvPr>
            <p:ph type="title"/>
          </p:nvPr>
        </p:nvSpPr>
        <p:spPr>
          <a:xfrm>
            <a:off x="481013" y="620714"/>
            <a:ext cx="10972800" cy="1139825"/>
          </a:xfrm>
        </p:spPr>
        <p:txBody>
          <a:bodyPr>
            <a:normAutofit fontScale="90000"/>
          </a:bodyPr>
          <a:lstStyle/>
          <a:p>
            <a:r>
              <a:rPr lang="en-US" altLang="en-US" b="1" dirty="0"/>
              <a:t>1️⃣ Group Roles (4–5 students per group)</a:t>
            </a:r>
            <a:br>
              <a:rPr lang="en-US" altLang="en-US" b="1" dirty="0"/>
            </a:br>
            <a:endParaRPr lang="en-US" altLang="en-US" dirty="0"/>
          </a:p>
        </p:txBody>
      </p:sp>
      <p:sp>
        <p:nvSpPr>
          <p:cNvPr id="3" name="Text Placeholder 2">
            <a:extLst>
              <a:ext uri="{FF2B5EF4-FFF2-40B4-BE49-F238E27FC236}">
                <a16:creationId xmlns:a16="http://schemas.microsoft.com/office/drawing/2014/main" id="{50B3A323-BE4E-3970-FE98-5E17DE20F09F}"/>
              </a:ext>
            </a:extLst>
          </p:cNvPr>
          <p:cNvSpPr>
            <a:spLocks noGrp="1"/>
          </p:cNvSpPr>
          <p:nvPr>
            <p:ph type="body" sz="half" idx="1"/>
          </p:nvPr>
        </p:nvSpPr>
        <p:spPr>
          <a:xfrm>
            <a:off x="609600" y="1600200"/>
            <a:ext cx="10972800" cy="4530725"/>
          </a:xfrm>
        </p:spPr>
        <p:txBody>
          <a:bodyPr rtlCol="0">
            <a:normAutofit/>
          </a:bodyPr>
          <a:lstStyle/>
          <a:p>
            <a:pPr fontAlgn="auto">
              <a:spcAft>
                <a:spcPts val="0"/>
              </a:spcAft>
              <a:defRPr/>
            </a:pPr>
            <a:r>
              <a:rPr lang="en-US" b="1" dirty="0"/>
              <a:t>Prosecutors (Lawyers for FIA):</a:t>
            </a:r>
            <a:r>
              <a:rPr lang="en-US" dirty="0"/>
              <a:t> Present why Ali’s actions are both unethical and illegal.</a:t>
            </a:r>
          </a:p>
          <a:p>
            <a:pPr fontAlgn="auto">
              <a:spcAft>
                <a:spcPts val="0"/>
              </a:spcAft>
              <a:defRPr/>
            </a:pPr>
            <a:r>
              <a:rPr lang="en-US" b="1" dirty="0"/>
              <a:t>Defense (Ali’s side):</a:t>
            </a:r>
            <a:r>
              <a:rPr lang="en-US" dirty="0"/>
              <a:t> Defend Ali’s actions with arguments (ignorance, intention, academic project).</a:t>
            </a:r>
          </a:p>
          <a:p>
            <a:pPr fontAlgn="auto">
              <a:spcAft>
                <a:spcPts val="0"/>
              </a:spcAft>
              <a:defRPr/>
            </a:pPr>
            <a:r>
              <a:rPr lang="en-US" b="1" dirty="0"/>
              <a:t>Judges:</a:t>
            </a:r>
            <a:r>
              <a:rPr lang="en-US" dirty="0"/>
              <a:t> Decide the verdict using </a:t>
            </a:r>
            <a:r>
              <a:rPr lang="en-US" b="1" dirty="0"/>
              <a:t>Pakistan’s Cyber Crime Law</a:t>
            </a:r>
            <a:r>
              <a:rPr lang="en-US" dirty="0"/>
              <a:t> (Electronic Transaction Ordinance 2002 / Cyber Crime Bill 2007).</a:t>
            </a:r>
          </a:p>
          <a:p>
            <a:pPr fontAlgn="auto">
              <a:spcAft>
                <a:spcPts val="0"/>
              </a:spcAft>
              <a:defRPr/>
            </a:pPr>
            <a:r>
              <a:rPr lang="en-US" b="1" dirty="0"/>
              <a:t>Ethics Committee (Observers):</a:t>
            </a:r>
            <a:r>
              <a:rPr lang="en-US" dirty="0"/>
              <a:t> Analyze the case from </a:t>
            </a:r>
            <a:r>
              <a:rPr lang="en-US" b="1" dirty="0"/>
              <a:t>professional ethics codes (ACM/IEEE, PEC)</a:t>
            </a:r>
            <a:r>
              <a:rPr lang="en-US" dirty="0"/>
              <a:t> and suggest how Ali should have acted.</a:t>
            </a:r>
          </a:p>
          <a:p>
            <a:pPr fontAlgn="auto">
              <a:spcAft>
                <a:spcPts val="0"/>
              </a:spcAft>
              <a:defRPr/>
            </a:pPr>
            <a:endParaRPr lang="en-PK"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EE8E5FA3-CB04-45AE-D42C-69789E37FC92}"/>
              </a:ext>
            </a:extLst>
          </p:cNvPr>
          <p:cNvSpPr>
            <a:spLocks noGrp="1" noChangeArrowheads="1"/>
          </p:cNvSpPr>
          <p:nvPr>
            <p:ph type="title"/>
          </p:nvPr>
        </p:nvSpPr>
        <p:spPr/>
        <p:txBody>
          <a:bodyPr/>
          <a:lstStyle/>
          <a:p>
            <a:r>
              <a:rPr lang="en-US" altLang="en-US"/>
              <a:t>2️⃣ </a:t>
            </a:r>
            <a:r>
              <a:rPr lang="en-US" altLang="en-US" b="1"/>
              <a:t>Tasks for Each Role</a:t>
            </a:r>
            <a:endParaRPr lang="en-US" altLang="en-US"/>
          </a:p>
        </p:txBody>
      </p:sp>
      <p:sp>
        <p:nvSpPr>
          <p:cNvPr id="3" name="Text Placeholder 2">
            <a:extLst>
              <a:ext uri="{FF2B5EF4-FFF2-40B4-BE49-F238E27FC236}">
                <a16:creationId xmlns:a16="http://schemas.microsoft.com/office/drawing/2014/main" id="{1CBDCB9B-10ED-649F-B2B3-C3E5E207485E}"/>
              </a:ext>
            </a:extLst>
          </p:cNvPr>
          <p:cNvSpPr>
            <a:spLocks noGrp="1"/>
          </p:cNvSpPr>
          <p:nvPr>
            <p:ph type="body" sz="half" idx="1"/>
          </p:nvPr>
        </p:nvSpPr>
        <p:spPr>
          <a:xfrm>
            <a:off x="609600" y="1600200"/>
            <a:ext cx="10972800" cy="4530725"/>
          </a:xfrm>
        </p:spPr>
        <p:txBody>
          <a:bodyPr rtlCol="0">
            <a:normAutofit/>
          </a:bodyPr>
          <a:lstStyle/>
          <a:p>
            <a:pPr fontAlgn="auto">
              <a:spcAft>
                <a:spcPts val="0"/>
              </a:spcAft>
              <a:defRPr/>
            </a:pPr>
            <a:r>
              <a:rPr lang="en-US" b="1" dirty="0"/>
              <a:t>Prosecutors:</a:t>
            </a:r>
            <a:endParaRPr lang="en-US" dirty="0"/>
          </a:p>
          <a:p>
            <a:pPr marL="742950" lvl="1" indent="-285750" fontAlgn="auto">
              <a:spcAft>
                <a:spcPts val="0"/>
              </a:spcAft>
              <a:defRPr/>
            </a:pPr>
            <a:r>
              <a:rPr lang="en-US" dirty="0"/>
              <a:t>Identify the offence (e.g., Unauthorized Data Access, Electronic Fraud).</a:t>
            </a:r>
          </a:p>
          <a:p>
            <a:pPr marL="742950" lvl="1" indent="-285750" fontAlgn="auto">
              <a:spcAft>
                <a:spcPts val="0"/>
              </a:spcAft>
              <a:defRPr/>
            </a:pPr>
            <a:r>
              <a:rPr lang="en-US" dirty="0"/>
              <a:t>Quote the relevant law and its punishment (e.g., up to 7 years &amp; fine of 1 million PKR).</a:t>
            </a:r>
          </a:p>
          <a:p>
            <a:pPr fontAlgn="auto">
              <a:spcAft>
                <a:spcPts val="0"/>
              </a:spcAft>
              <a:defRPr/>
            </a:pPr>
            <a:r>
              <a:rPr lang="en-US" b="1" dirty="0"/>
              <a:t>Defense:</a:t>
            </a:r>
            <a:endParaRPr lang="en-US" dirty="0"/>
          </a:p>
          <a:p>
            <a:pPr marL="742950" lvl="1" indent="-285750" fontAlgn="auto">
              <a:spcAft>
                <a:spcPts val="0"/>
              </a:spcAft>
              <a:defRPr/>
            </a:pPr>
            <a:r>
              <a:rPr lang="en-US" dirty="0"/>
              <a:t>Argue why Ali should not face full punishment (student, ignorance, no intent).</a:t>
            </a:r>
          </a:p>
          <a:p>
            <a:pPr fontAlgn="auto">
              <a:spcAft>
                <a:spcPts val="0"/>
              </a:spcAft>
              <a:defRPr/>
            </a:pPr>
            <a:r>
              <a:rPr lang="en-US" b="1" dirty="0"/>
              <a:t>Judges:</a:t>
            </a:r>
            <a:endParaRPr lang="en-US" dirty="0"/>
          </a:p>
          <a:p>
            <a:pPr marL="742950" lvl="1" indent="-285750" fontAlgn="auto">
              <a:spcAft>
                <a:spcPts val="0"/>
              </a:spcAft>
              <a:defRPr/>
            </a:pPr>
            <a:r>
              <a:rPr lang="en-US" dirty="0"/>
              <a:t>Deliver a verdict: guilty or not guilty.</a:t>
            </a:r>
          </a:p>
          <a:p>
            <a:pPr marL="742950" lvl="1" indent="-285750" fontAlgn="auto">
              <a:spcAft>
                <a:spcPts val="0"/>
              </a:spcAft>
              <a:defRPr/>
            </a:pPr>
            <a:r>
              <a:rPr lang="en-US" dirty="0"/>
              <a:t>Assign a punishment based on law.</a:t>
            </a:r>
          </a:p>
          <a:p>
            <a:pPr fontAlgn="auto">
              <a:spcAft>
                <a:spcPts val="0"/>
              </a:spcAft>
              <a:defRPr/>
            </a:pPr>
            <a:r>
              <a:rPr lang="en-US" b="1" dirty="0"/>
              <a:t>Ethics Committee:</a:t>
            </a:r>
            <a:endParaRPr lang="en-US" dirty="0"/>
          </a:p>
          <a:p>
            <a:pPr marL="742950" lvl="1" indent="-285750" fontAlgn="auto">
              <a:spcAft>
                <a:spcPts val="0"/>
              </a:spcAft>
              <a:defRPr/>
            </a:pPr>
            <a:r>
              <a:rPr lang="en-US" dirty="0"/>
              <a:t>Highlight the </a:t>
            </a:r>
            <a:r>
              <a:rPr lang="en-US" b="1" dirty="0"/>
              <a:t>unethical aspect</a:t>
            </a:r>
            <a:r>
              <a:rPr lang="en-US" dirty="0"/>
              <a:t> (violation of privacy, misuse of trust).</a:t>
            </a:r>
          </a:p>
          <a:p>
            <a:pPr marL="742950" lvl="1" indent="-285750" fontAlgn="auto">
              <a:spcAft>
                <a:spcPts val="0"/>
              </a:spcAft>
              <a:defRPr/>
            </a:pPr>
            <a:r>
              <a:rPr lang="en-US" dirty="0"/>
              <a:t>Connect with </a:t>
            </a:r>
            <a:r>
              <a:rPr lang="en-US" b="1" dirty="0"/>
              <a:t>ACM Code of Ethics</a:t>
            </a:r>
            <a:r>
              <a:rPr lang="en-US" dirty="0"/>
              <a:t> (e.g., “Respect privacy”, “Avoid harm”).</a:t>
            </a:r>
          </a:p>
          <a:p>
            <a:pPr marL="742950" lvl="1" indent="-285750" fontAlgn="auto">
              <a:spcAft>
                <a:spcPts val="0"/>
              </a:spcAft>
              <a:defRPr/>
            </a:pPr>
            <a:r>
              <a:rPr lang="en-US" dirty="0"/>
              <a:t>Suggest the right course of action for a responsible SE professional.</a:t>
            </a:r>
          </a:p>
          <a:p>
            <a:pPr fontAlgn="auto">
              <a:spcAft>
                <a:spcPts val="0"/>
              </a:spcAft>
              <a:defRPr/>
            </a:pPr>
            <a:endParaRPr lang="en-PK"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69EEFDE7-1BF4-1A89-9C03-F2AF18E6F82D}"/>
              </a:ext>
            </a:extLst>
          </p:cNvPr>
          <p:cNvSpPr>
            <a:spLocks noGrp="1" noChangeArrowheads="1"/>
          </p:cNvSpPr>
          <p:nvPr>
            <p:ph type="title"/>
          </p:nvPr>
        </p:nvSpPr>
        <p:spPr>
          <a:xfrm>
            <a:off x="252412" y="727075"/>
            <a:ext cx="10972800" cy="1139825"/>
          </a:xfrm>
        </p:spPr>
        <p:txBody>
          <a:bodyPr>
            <a:normAutofit fontScale="90000"/>
          </a:bodyPr>
          <a:lstStyle/>
          <a:p>
            <a:r>
              <a:rPr lang="en-US" altLang="en-US" b="1" dirty="0"/>
              <a:t>3️⃣ Debrief Questions for Class Discussion</a:t>
            </a:r>
            <a:br>
              <a:rPr lang="en-US" altLang="en-US" b="1" dirty="0"/>
            </a:br>
            <a:endParaRPr lang="en-US" altLang="en-US" dirty="0"/>
          </a:p>
        </p:txBody>
      </p:sp>
      <p:sp>
        <p:nvSpPr>
          <p:cNvPr id="72707" name="Text Placeholder 2">
            <a:extLst>
              <a:ext uri="{FF2B5EF4-FFF2-40B4-BE49-F238E27FC236}">
                <a16:creationId xmlns:a16="http://schemas.microsoft.com/office/drawing/2014/main" id="{BC69F048-E08A-D022-0656-C4BF1AA586C2}"/>
              </a:ext>
            </a:extLst>
          </p:cNvPr>
          <p:cNvSpPr>
            <a:spLocks noGrp="1" noChangeArrowheads="1"/>
          </p:cNvSpPr>
          <p:nvPr>
            <p:ph type="body" sz="half" idx="1"/>
          </p:nvPr>
        </p:nvSpPr>
        <p:spPr>
          <a:xfrm>
            <a:off x="609600" y="1600200"/>
            <a:ext cx="10972800" cy="4530725"/>
          </a:xfrm>
        </p:spPr>
        <p:txBody>
          <a:bodyPr/>
          <a:lstStyle/>
          <a:p>
            <a:r>
              <a:rPr lang="en-US" altLang="en-US" dirty="0"/>
              <a:t>What cybercrime law was violated here?</a:t>
            </a:r>
          </a:p>
          <a:p>
            <a:r>
              <a:rPr lang="en-US" altLang="en-US" dirty="0"/>
              <a:t>Does “ignorance” excuse Ali’s actions?</a:t>
            </a:r>
          </a:p>
          <a:p>
            <a:r>
              <a:rPr lang="en-US" altLang="en-US" dirty="0"/>
              <a:t>How could Ali have ethically handled user data?</a:t>
            </a:r>
          </a:p>
          <a:p>
            <a:r>
              <a:rPr lang="en-US" altLang="en-US" dirty="0"/>
              <a:t>As future software engineers, what </a:t>
            </a:r>
            <a:r>
              <a:rPr lang="en-US" altLang="en-US" b="1" dirty="0"/>
              <a:t>professional responsibilities</a:t>
            </a:r>
            <a:r>
              <a:rPr lang="en-US" altLang="en-US" dirty="0"/>
              <a:t> must you follow?</a:t>
            </a:r>
          </a:p>
          <a:p>
            <a:endParaRPr lang="en-US" altLang="en-US"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9CEF2326-6BD4-45E1-DCC1-5B497D15C6C8}"/>
              </a:ext>
            </a:extLst>
          </p:cNvPr>
          <p:cNvSpPr>
            <a:spLocks noGrp="1" noChangeArrowheads="1"/>
          </p:cNvSpPr>
          <p:nvPr>
            <p:ph type="title"/>
          </p:nvPr>
        </p:nvSpPr>
        <p:spPr/>
        <p:txBody>
          <a:bodyPr/>
          <a:lstStyle/>
          <a:p>
            <a:r>
              <a:rPr lang="en-US" altLang="en-US"/>
              <a:t>Outcomes:</a:t>
            </a:r>
          </a:p>
        </p:txBody>
      </p:sp>
      <p:sp>
        <p:nvSpPr>
          <p:cNvPr id="3" name="Text Placeholder 2">
            <a:extLst>
              <a:ext uri="{FF2B5EF4-FFF2-40B4-BE49-F238E27FC236}">
                <a16:creationId xmlns:a16="http://schemas.microsoft.com/office/drawing/2014/main" id="{89242DF4-1925-DDF6-0C7E-42687FA10F5C}"/>
              </a:ext>
            </a:extLst>
          </p:cNvPr>
          <p:cNvSpPr>
            <a:spLocks noGrp="1"/>
          </p:cNvSpPr>
          <p:nvPr>
            <p:ph type="body" sz="half" idx="1"/>
          </p:nvPr>
        </p:nvSpPr>
        <p:spPr>
          <a:xfrm>
            <a:off x="609600" y="1600200"/>
            <a:ext cx="10972800" cy="4530725"/>
          </a:xfrm>
        </p:spPr>
        <p:txBody>
          <a:bodyPr rtlCol="0">
            <a:normAutofit/>
          </a:bodyPr>
          <a:lstStyle/>
          <a:p>
            <a:pPr fontAlgn="auto">
              <a:spcAft>
                <a:spcPts val="0"/>
              </a:spcAft>
              <a:defRPr/>
            </a:pPr>
            <a:r>
              <a:rPr lang="en-US" dirty="0"/>
              <a:t>After completing this activity, students will be able to:</a:t>
            </a:r>
          </a:p>
          <a:p>
            <a:pPr fontAlgn="auto">
              <a:spcAft>
                <a:spcPts val="0"/>
              </a:spcAft>
              <a:buFont typeface="+mj-lt"/>
              <a:buAutoNum type="arabicPeriod"/>
              <a:defRPr/>
            </a:pPr>
            <a:r>
              <a:rPr lang="en-US" b="1" dirty="0"/>
              <a:t>Recognize</a:t>
            </a:r>
            <a:r>
              <a:rPr lang="en-US" dirty="0"/>
              <a:t> unethical and illegal actions in software development.</a:t>
            </a:r>
          </a:p>
          <a:p>
            <a:pPr fontAlgn="auto">
              <a:spcAft>
                <a:spcPts val="0"/>
              </a:spcAft>
              <a:buFont typeface="+mj-lt"/>
              <a:buAutoNum type="arabicPeriod"/>
              <a:defRPr/>
            </a:pPr>
            <a:r>
              <a:rPr lang="en-US" b="1" dirty="0"/>
              <a:t>Map</a:t>
            </a:r>
            <a:r>
              <a:rPr lang="en-US" dirty="0"/>
              <a:t> actions in a case study to the relevant </a:t>
            </a:r>
            <a:r>
              <a:rPr lang="en-US" b="1" dirty="0"/>
              <a:t>Pakistani cyber laws</a:t>
            </a:r>
            <a:r>
              <a:rPr lang="en-US" dirty="0"/>
              <a:t> and their punishments.</a:t>
            </a:r>
          </a:p>
          <a:p>
            <a:pPr fontAlgn="auto">
              <a:spcAft>
                <a:spcPts val="0"/>
              </a:spcAft>
              <a:buFont typeface="+mj-lt"/>
              <a:buAutoNum type="arabicPeriod"/>
              <a:defRPr/>
            </a:pPr>
            <a:r>
              <a:rPr lang="en-US" b="1" dirty="0"/>
              <a:t>Evaluate</a:t>
            </a:r>
            <a:r>
              <a:rPr lang="en-US" dirty="0"/>
              <a:t> ethical issues using </a:t>
            </a:r>
            <a:r>
              <a:rPr lang="en-US" b="1" dirty="0"/>
              <a:t>professional codes of ethics (ACM/IEEE, PEC)</a:t>
            </a:r>
            <a:r>
              <a:rPr lang="en-US" dirty="0"/>
              <a:t>.</a:t>
            </a:r>
          </a:p>
          <a:p>
            <a:pPr fontAlgn="auto">
              <a:spcAft>
                <a:spcPts val="0"/>
              </a:spcAft>
              <a:buFont typeface="+mj-lt"/>
              <a:buAutoNum type="arabicPeriod"/>
              <a:defRPr/>
            </a:pPr>
            <a:r>
              <a:rPr lang="en-US" b="1" dirty="0"/>
              <a:t>Debate</a:t>
            </a:r>
            <a:r>
              <a:rPr lang="en-US" dirty="0"/>
              <a:t> and </a:t>
            </a:r>
            <a:r>
              <a:rPr lang="en-US" b="1" dirty="0"/>
              <a:t>justify decisions</a:t>
            </a:r>
            <a:r>
              <a:rPr lang="en-US" dirty="0"/>
              <a:t> through structured role-play (prosecution, </a:t>
            </a:r>
            <a:r>
              <a:rPr lang="en-US" dirty="0" err="1"/>
              <a:t>defence</a:t>
            </a:r>
            <a:r>
              <a:rPr lang="en-US" dirty="0"/>
              <a:t>, judges, ethics committee).</a:t>
            </a:r>
          </a:p>
          <a:p>
            <a:pPr fontAlgn="auto">
              <a:spcAft>
                <a:spcPts val="0"/>
              </a:spcAft>
              <a:buFont typeface="+mj-lt"/>
              <a:buAutoNum type="arabicPeriod"/>
              <a:defRPr/>
            </a:pPr>
            <a:r>
              <a:rPr lang="en-US" b="1" dirty="0"/>
              <a:t>Reflect</a:t>
            </a:r>
            <a:r>
              <a:rPr lang="en-US" dirty="0"/>
              <a:t> on their own professional responsibility to </a:t>
            </a:r>
            <a:r>
              <a:rPr lang="en-US" b="1" dirty="0"/>
              <a:t>protect privacy, ensure trust, and avoid harm</a:t>
            </a:r>
            <a:r>
              <a:rPr lang="en-US" dirty="0"/>
              <a:t>.</a:t>
            </a:r>
          </a:p>
          <a:p>
            <a:pPr fontAlgn="auto">
              <a:spcAft>
                <a:spcPts val="0"/>
              </a:spcAft>
              <a:defRPr/>
            </a:pPr>
            <a:endParaRPr lang="en-PK" dirty="0"/>
          </a:p>
        </p:txBody>
      </p:sp>
    </p:spTree>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80C152A-DB72-EBBF-6EE9-9414DE00B469}"/>
              </a:ext>
            </a:extLst>
          </p:cNvPr>
          <p:cNvSpPr>
            <a:spLocks noGrp="1"/>
          </p:cNvSpPr>
          <p:nvPr>
            <p:ph idx="1"/>
          </p:nvPr>
        </p:nvSpPr>
        <p:spPr>
          <a:xfrm>
            <a:off x="985522" y="2344876"/>
            <a:ext cx="11306806" cy="1527038"/>
          </a:xfrm>
        </p:spPr>
        <p:txBody>
          <a:bodyPr>
            <a:normAutofit/>
          </a:bodyPr>
          <a:lstStyle/>
          <a:p>
            <a:pPr marL="0" indent="0" algn="ctr">
              <a:buNone/>
            </a:pPr>
            <a:r>
              <a:rPr lang="en-US" sz="4400" dirty="0"/>
              <a:t>Discussion and Questions</a:t>
            </a:r>
          </a:p>
        </p:txBody>
      </p:sp>
      <p:sp>
        <p:nvSpPr>
          <p:cNvPr id="5" name="Slide Number Placeholder 4">
            <a:extLst>
              <a:ext uri="{FF2B5EF4-FFF2-40B4-BE49-F238E27FC236}">
                <a16:creationId xmlns:a16="http://schemas.microsoft.com/office/drawing/2014/main" id="{01E607EA-6F19-0D86-93A7-7369D79C9B24}"/>
              </a:ext>
            </a:extLst>
          </p:cNvPr>
          <p:cNvSpPr>
            <a:spLocks noGrp="1"/>
          </p:cNvSpPr>
          <p:nvPr>
            <p:ph type="sldNum" sz="quarter" idx="12"/>
          </p:nvPr>
        </p:nvSpPr>
        <p:spPr/>
        <p:txBody>
          <a:bodyPr/>
          <a:lstStyle/>
          <a:p>
            <a:pPr>
              <a:defRPr/>
            </a:pPr>
            <a:fld id="{F77A47BD-FC48-4B21-85D5-D97F5553DCB7}" type="slidenum">
              <a:rPr lang="en-US" altLang="en-US" smtClean="0"/>
              <a:pPr>
                <a:defRPr/>
              </a:pPr>
              <a:t>40</a:t>
            </a:fld>
            <a:endParaRPr lang="en-US" altLang="en-US"/>
          </a:p>
        </p:txBody>
      </p:sp>
    </p:spTree>
    <p:extLst>
      <p:ext uri="{BB962C8B-B14F-4D97-AF65-F5344CB8AC3E}">
        <p14:creationId xmlns:p14="http://schemas.microsoft.com/office/powerpoint/2010/main" val="33513827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656F17C540E4F41AEEF93B9BC37C0BB" ma:contentTypeVersion="14" ma:contentTypeDescription="Create a new document." ma:contentTypeScope="" ma:versionID="b3929106e79e428c8c542b45ad9c2cbe">
  <xsd:schema xmlns:xsd="http://www.w3.org/2001/XMLSchema" xmlns:xs="http://www.w3.org/2001/XMLSchema" xmlns:p="http://schemas.microsoft.com/office/2006/metadata/properties" xmlns:ns3="d27e1cce-7eb9-48d1-b3d5-16ddde272728" xmlns:ns4="8afc896a-938a-4f68-adf4-d7c47bf86789" targetNamespace="http://schemas.microsoft.com/office/2006/metadata/properties" ma:root="true" ma:fieldsID="4107adead78feb91f83b5dbd9a0d3aa7" ns3:_="" ns4:_="">
    <xsd:import namespace="d27e1cce-7eb9-48d1-b3d5-16ddde272728"/>
    <xsd:import namespace="8afc896a-938a-4f68-adf4-d7c47bf86789"/>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ServiceAutoKeyPoints" minOccurs="0"/>
                <xsd:element ref="ns4:MediaServiceKeyPoint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e1cce-7eb9-48d1-b3d5-16ddde27272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afc896a-938a-4f68-adf4-d7c47bf86789"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9A0A0A0-79C5-4187-89ED-B7D74D776B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e1cce-7eb9-48d1-b3d5-16ddde272728"/>
    <ds:schemaRef ds:uri="8afc896a-938a-4f68-adf4-d7c47bf867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A5FFD9F-D991-4844-A7F8-533D7C0C261B}">
  <ds:schemaRefs>
    <ds:schemaRef ds:uri="http://schemas.microsoft.com/sharepoint/v3/contenttype/forms"/>
  </ds:schemaRefs>
</ds:datastoreItem>
</file>

<file path=customXml/itemProps3.xml><?xml version="1.0" encoding="utf-8"?>
<ds:datastoreItem xmlns:ds="http://schemas.openxmlformats.org/officeDocument/2006/customXml" ds:itemID="{C1F76069-D25C-458D-BA8A-D471706FFCFB}">
  <ds:schemaRefs>
    <ds:schemaRef ds:uri="http://purl.org/dc/terms/"/>
    <ds:schemaRef ds:uri="http://schemas.microsoft.com/office/2006/metadata/properties"/>
    <ds:schemaRef ds:uri="d27e1cce-7eb9-48d1-b3d5-16ddde272728"/>
    <ds:schemaRef ds:uri="http://purl.org/dc/dcmitype/"/>
    <ds:schemaRef ds:uri="http://schemas.microsoft.com/office/2006/documentManagement/types"/>
    <ds:schemaRef ds:uri="http://www.w3.org/XML/1998/namespace"/>
    <ds:schemaRef ds:uri="8afc896a-938a-4f68-adf4-d7c47bf86789"/>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Savon</Template>
  <TotalTime>197</TotalTime>
  <Words>2563</Words>
  <Application>Microsoft Office PowerPoint</Application>
  <PresentationFormat>Widescreen</PresentationFormat>
  <Paragraphs>328</Paragraphs>
  <Slides>40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Aharoni</vt:lpstr>
      <vt:lpstr>Arial</vt:lpstr>
      <vt:lpstr>Calibri</vt:lpstr>
      <vt:lpstr>Century Gothic</vt:lpstr>
      <vt:lpstr>Garamond</vt:lpstr>
      <vt:lpstr>Wingdings</vt:lpstr>
      <vt:lpstr>Savon</vt:lpstr>
      <vt:lpstr>Professional Practices Cyber Ethics &amp; Cybercrime</vt:lpstr>
      <vt:lpstr>PowerPoint Presentation</vt:lpstr>
      <vt:lpstr>Hacking</vt:lpstr>
      <vt:lpstr>Hacking</vt:lpstr>
      <vt:lpstr>Types of Hacking </vt:lpstr>
      <vt:lpstr>Common Hacking Techniques</vt:lpstr>
      <vt:lpstr>Purpose of Hacking</vt:lpstr>
      <vt:lpstr>Hacker ethics </vt:lpstr>
      <vt:lpstr>Theft &amp; Credit Card Fraud</vt:lpstr>
      <vt:lpstr>Scams &amp; Forgery</vt:lpstr>
      <vt:lpstr>Law and Order on the Internet</vt:lpstr>
      <vt:lpstr>Sociotechnical Order</vt:lpstr>
      <vt:lpstr>Components of Sociotechnical Order</vt:lpstr>
      <vt:lpstr>Computer Crime/ Cyber Crime and Cyber Laws in Pakistan</vt:lpstr>
      <vt:lpstr>Cyber Crime</vt:lpstr>
      <vt:lpstr>Cyber stalking</vt:lpstr>
      <vt:lpstr>Spamming</vt:lpstr>
      <vt:lpstr>Cyber terrorism</vt:lpstr>
      <vt:lpstr>Difference between hacking and cybercrime</vt:lpstr>
      <vt:lpstr>PowerPoint Presentation</vt:lpstr>
      <vt:lpstr>Cyber Laws</vt:lpstr>
      <vt:lpstr>Cyber Laws in Pakistan</vt:lpstr>
      <vt:lpstr>1. Electronic Transaction Ordinance 2002</vt:lpstr>
      <vt:lpstr>Electronic Transaction Ordinance 2002</vt:lpstr>
      <vt:lpstr>ETO 2002</vt:lpstr>
      <vt:lpstr>Important sections </vt:lpstr>
      <vt:lpstr>PowerPoint Presentation</vt:lpstr>
      <vt:lpstr>2. Electronic/Cyber Crime Bill 2007 </vt:lpstr>
      <vt:lpstr>Electronic/Cyber Crime Bill 2007</vt:lpstr>
      <vt:lpstr>Electronic/Cyber Crime Bill 2007</vt:lpstr>
      <vt:lpstr>Punishments</vt:lpstr>
      <vt:lpstr>Punishments</vt:lpstr>
      <vt:lpstr>PowerPoint Presentation</vt:lpstr>
      <vt:lpstr>Crimes Reported in Pakistan</vt:lpstr>
      <vt:lpstr>Class Activity: Cyber Ethics &amp; Law in Action</vt:lpstr>
      <vt:lpstr>1️⃣ Group Roles (4–5 students per group) </vt:lpstr>
      <vt:lpstr>2️⃣ Tasks for Each Role</vt:lpstr>
      <vt:lpstr>3️⃣ Debrief Questions for Class Discussion </vt:lpstr>
      <vt:lpstr>Outcomes: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Usman Akbar</dc:creator>
  <cp:lastModifiedBy>Maham Noor</cp:lastModifiedBy>
  <cp:revision>28</cp:revision>
  <dcterms:created xsi:type="dcterms:W3CDTF">2021-12-10T18:21:46Z</dcterms:created>
  <dcterms:modified xsi:type="dcterms:W3CDTF">2025-11-05T07:42:58Z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0x010100D656F17C540E4F41AEEF93B9BC37C0BB</vt:lpwstr>
  </property>
</Properties>
</file>