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0"/>
  </p:notesMasterIdLst>
  <p:sldIdLst>
    <p:sldId id="256" r:id="rId2"/>
    <p:sldId id="272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75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9144000"/>
  <p:embeddedFontLst>
    <p:embeddedFont>
      <p:font typeface="Aharoni" panose="02010803020104030203" pitchFamily="2" charset="-79"/>
      <p:bold r:id="rId21"/>
    </p:embeddedFont>
    <p:embeddedFont>
      <p:font typeface="Bodoni MT Black" panose="02070A03080606020203" pitchFamily="18" charset="0"/>
      <p:bold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Merriweather" panose="00000500000000000000" pitchFamily="2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Tw Cen MT" panose="020B0602020104020603" pitchFamily="34" charset="0"/>
      <p:regular r:id="rId44"/>
      <p:bold r:id="rId45"/>
      <p:italic r:id="rId46"/>
      <p:boldItalic r:id="rId47"/>
    </p:embeddedFont>
    <p:embeddedFont>
      <p:font typeface="Tw Cen MT Condensed" panose="020B0606020104020203" pitchFamily="34" charset="0"/>
      <p:regular r:id="rId48"/>
      <p:bold r:id="rId49"/>
    </p:embeddedFont>
    <p:embeddedFont>
      <p:font typeface="Wingdings 3" panose="05040102010807070707" pitchFamily="18" charset="2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1c2d1ba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a1c2d1ba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3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1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4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4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6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4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15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0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57119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1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9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27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ctrTitle"/>
          </p:nvPr>
        </p:nvSpPr>
        <p:spPr>
          <a:xfrm>
            <a:off x="163996" y="5061012"/>
            <a:ext cx="9025724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203773"/>
              <a:buFont typeface="Century Gothic"/>
              <a:buNone/>
            </a:pPr>
            <a:br>
              <a:rPr lang="en-US" sz="2650" dirty="0"/>
            </a:br>
            <a:r>
              <a:rPr lang="en-US" sz="2650" dirty="0"/>
              <a:t>Professional Practices Week 7 : </a:t>
            </a:r>
            <a:endParaRPr sz="26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64189"/>
              <a:buFont typeface="Century Gothic"/>
              <a:buNone/>
            </a:pPr>
            <a:r>
              <a:rPr lang="en-US" sz="3288" b="1" dirty="0"/>
              <a:t>Regulation and Control of Personal</a:t>
            </a:r>
            <a:br>
              <a:rPr lang="en-US" sz="3288" b="1" dirty="0"/>
            </a:br>
            <a:r>
              <a:rPr lang="en-US" sz="3288" b="1" dirty="0"/>
              <a:t> Information</a:t>
            </a:r>
            <a:br>
              <a:rPr lang="en-US" b="1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E2EF9-A470-4E2D-81FE-E29FC1818BC8}"/>
              </a:ext>
            </a:extLst>
          </p:cNvPr>
          <p:cNvSpPr/>
          <p:nvPr/>
        </p:nvSpPr>
        <p:spPr>
          <a:xfrm>
            <a:off x="8485046" y="5061012"/>
            <a:ext cx="354295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Maham Noor 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Lecturer 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University of central Punjab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DB8DACA-5A91-4A9D-B625-3BBFD4E2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7EEC3-2093-4BFD-B8E3-6FD1948E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D8A572A-DCF2-471A-B9C9-00B58EB0F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60230"/>
              </p:ext>
            </p:extLst>
          </p:nvPr>
        </p:nvGraphicFramePr>
        <p:xfrm>
          <a:off x="1024128" y="3017520"/>
          <a:ext cx="9105233" cy="260908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{0660B408-B3CF-4A94-85FC-2B1E0A45F4A2}</a:tableStyleId>
              </a:tblPr>
              <a:tblGrid>
                <a:gridCol w="734715">
                  <a:extLst>
                    <a:ext uri="{9D8B030D-6E8A-4147-A177-3AD203B41FA5}">
                      <a16:colId xmlns:a16="http://schemas.microsoft.com/office/drawing/2014/main" val="2578300914"/>
                    </a:ext>
                  </a:extLst>
                </a:gridCol>
                <a:gridCol w="1334877">
                  <a:extLst>
                    <a:ext uri="{9D8B030D-6E8A-4147-A177-3AD203B41FA5}">
                      <a16:colId xmlns:a16="http://schemas.microsoft.com/office/drawing/2014/main" val="462248584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3450087016"/>
                    </a:ext>
                  </a:extLst>
                </a:gridCol>
                <a:gridCol w="1353126">
                  <a:extLst>
                    <a:ext uri="{9D8B030D-6E8A-4147-A177-3AD203B41FA5}">
                      <a16:colId xmlns:a16="http://schemas.microsoft.com/office/drawing/2014/main" val="434234724"/>
                    </a:ext>
                  </a:extLst>
                </a:gridCol>
                <a:gridCol w="1293395">
                  <a:extLst>
                    <a:ext uri="{9D8B030D-6E8A-4147-A177-3AD203B41FA5}">
                      <a16:colId xmlns:a16="http://schemas.microsoft.com/office/drawing/2014/main" val="3585281234"/>
                    </a:ext>
                  </a:extLst>
                </a:gridCol>
              </a:tblGrid>
              <a:tr h="542002">
                <a:tc rowSpan="2">
                  <a:txBody>
                    <a:bodyPr/>
                    <a:lstStyle/>
                    <a:p>
                      <a:pPr algn="l"/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Lecture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Contents of this week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Book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CLO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3368450"/>
                  </a:ext>
                </a:extLst>
              </a:tr>
              <a:tr h="689028"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Lec#13:</a:t>
                      </a:r>
                      <a:endParaRPr lang="en-PK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Regulation and control of personal information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T.B Chapter #12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CLO2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484094"/>
                  </a:ext>
                </a:extLst>
              </a:tr>
              <a:tr h="1378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7</a:t>
                      </a:r>
                      <a:endParaRPr lang="en-PK" sz="1400" dirty="0">
                        <a:effectLst/>
                      </a:endParaRPr>
                    </a:p>
                    <a:p>
                      <a:pPr algn="l"/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Lec#14:</a:t>
                      </a:r>
                      <a:endParaRPr lang="en-PK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457200" algn="l"/>
                          <a:tab pos="914400" algn="l"/>
                          <a:tab pos="1371600" algn="l"/>
                        </a:tabLst>
                      </a:pPr>
                      <a:r>
                        <a:rPr lang="en-US" sz="1400" dirty="0">
                          <a:effectLst/>
                        </a:rPr>
                        <a:t>Regulation and control of personal information</a:t>
                      </a:r>
                      <a:endParaRPr lang="en-PK" sz="1400" dirty="0">
                        <a:effectLst/>
                      </a:endParaRPr>
                    </a:p>
                    <a:p>
                      <a:pPr algn="l">
                        <a:tabLst>
                          <a:tab pos="457200" algn="l"/>
                          <a:tab pos="914400" algn="l"/>
                          <a:tab pos="1371600" algn="l"/>
                        </a:tabLs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400" dirty="0">
                        <a:effectLst/>
                      </a:endParaRPr>
                    </a:p>
                    <a:p>
                      <a:pPr algn="l">
                        <a:tabLst>
                          <a:tab pos="457200" algn="l"/>
                          <a:tab pos="914400" algn="l"/>
                          <a:tab pos="1371600" algn="l"/>
                        </a:tabLst>
                      </a:pPr>
                      <a:r>
                        <a:rPr lang="en-US" sz="1400" dirty="0">
                          <a:effectLst/>
                        </a:rPr>
                        <a:t>     Activity: Analysis of a scenario on data privacy and defamation case. 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12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/>
            </a:br>
            <a:r>
              <a:rPr lang="en-US" b="1"/>
              <a:t>Agenda and Objectives</a:t>
            </a:r>
            <a:br>
              <a:rPr lang="en-US" b="1"/>
            </a:b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47192" y="2133589"/>
            <a:ext cx="112005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Regulation of personal data, privacy, and defamation in software engineering.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Internet’s impact on data security and privacy.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Analyze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Factors influencing data regulation globally and in Pakistan.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Data protection frameworks in UK, Europe, and Pakistan.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Evaluate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Convergence, fair use guidelines, and defamation laws balancing free speech.</a:t>
            </a:r>
            <a:endParaRPr/>
          </a:p>
          <a:p>
            <a:pPr marL="0" marR="0" lvl="0" indent="-114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Apply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Knowledge through a case study activity.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899160" y="1005000"/>
            <a:ext cx="1271016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4000" b="1" dirty="0"/>
              <a:t>Regulation and control of personal Information </a:t>
            </a:r>
            <a:endParaRPr sz="4000"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idx="1"/>
          </p:nvPr>
        </p:nvSpPr>
        <p:spPr>
          <a:xfrm>
            <a:off x="1024128" y="2087880"/>
            <a:ext cx="9720073" cy="422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/>
              <a:t>Regulation and control of personal information means making sure personal data is collected fairly, used properly, and kept secure, following legal and ethical rules.</a:t>
            </a:r>
          </a:p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1" dirty="0"/>
              <a:t> Main 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protect individual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prevent misuse of data (e.g., identity theft, scams)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ensure transparency in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give individuals control over their personal information</a:t>
            </a:r>
          </a:p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1800" dirty="0"/>
          </a:p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sz="1800" dirty="0"/>
          </a:p>
        </p:txBody>
      </p:sp>
      <p:sp>
        <p:nvSpPr>
          <p:cNvPr id="185" name="Google Shape;185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1E71-33FE-43A9-8FC4-DC9FD64F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9077-BD88-4AD8-80EE-8B9F6C2B5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When a Pakistani e-commerce website collects your name, address, and phone number for delivery, it must only use that information for delivery purposes and cannot share it with advertisers without your consent.</a:t>
            </a:r>
          </a:p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1" dirty="0"/>
              <a:t>Regulation applied: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According to Pakistan’s Personal Data Protection Bill (Draft 2021), companies must: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Get user consent before collecting personal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Protect the data from leaks.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Delete data when it’s no longer needed.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1D09C-5573-480F-B8B7-D9544A22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8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1325880" y="1024995"/>
            <a:ext cx="973836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solidFill>
                  <a:schemeClr val="dk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Why Regulation is Important?</a:t>
            </a:r>
            <a:endParaRPr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1" name="Google Shape;191;p22"/>
          <p:cNvSpPr txBox="1">
            <a:spLocks noGrp="1"/>
          </p:cNvSpPr>
          <p:nvPr>
            <p:ph idx="1"/>
          </p:nvPr>
        </p:nvSpPr>
        <p:spPr>
          <a:xfrm>
            <a:off x="1638300" y="2499549"/>
            <a:ext cx="89154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Growing digitalization increases risk of data misuse.</a:t>
            </a:r>
            <a:endParaRPr sz="1000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810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scandals (Facebook–Cambridge Analytica, Equifax breach).</a:t>
            </a:r>
            <a:endParaRPr sz="1000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810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Regulation builds public trust and enforces accountability.</a:t>
            </a:r>
            <a:endParaRPr sz="1000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92" name="Google Shape;192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566928" y="995568"/>
            <a:ext cx="1147267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Bodoni MT Black" panose="02070A03080606020203" pitchFamily="18" charset="0"/>
                <a:ea typeface="Calibri"/>
                <a:cs typeface="Calibri"/>
                <a:sym typeface="Calibri"/>
              </a:rPr>
              <a:t>Data Protection &amp; Privacy</a:t>
            </a:r>
            <a:endParaRPr dirty="0">
              <a:latin typeface="Bodoni MT Black" panose="02070A03080606020203" pitchFamily="18" charset="0"/>
            </a:endParaRPr>
          </a:p>
        </p:txBody>
      </p:sp>
      <p:sp>
        <p:nvSpPr>
          <p:cNvPr id="198" name="Google Shape;198;p23"/>
          <p:cNvSpPr txBox="1">
            <a:spLocks noGrp="1"/>
          </p:cNvSpPr>
          <p:nvPr>
            <p:ph idx="1"/>
          </p:nvPr>
        </p:nvSpPr>
        <p:spPr>
          <a:xfrm>
            <a:off x="424243" y="2495184"/>
            <a:ext cx="10319957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ct val="100000"/>
              <a:buFont typeface="Roboto"/>
              <a:buChar char="•"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Definition: </a:t>
            </a:r>
            <a:endParaRPr sz="3200" b="1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Safeguarding personal data from unauthorized access, disclosure, or misuse.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55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1394D"/>
              </a:buClr>
              <a:buSzPct val="100000"/>
              <a:buFont typeface="Roboto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Core Principles: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• Lawfulness &amp; fairness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• Transparency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• Data minimization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• Accuracy &amp; security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55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1394D"/>
              </a:buClr>
              <a:buSzPct val="100000"/>
              <a:buFont typeface="Roboto"/>
              <a:buChar char="•"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Only collecting data necessary for app functions (e.g., maps).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199" name="Google Shape;199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902208" y="548640"/>
            <a:ext cx="1157935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sz="4000" b="1" dirty="0"/>
            </a:br>
            <a:r>
              <a:rPr lang="en-US" sz="4000" b="1" dirty="0"/>
              <a:t>Factors Influencing Regulation of Data Processing</a:t>
            </a:r>
            <a:br>
              <a:rPr lang="en-US" sz="4000" b="1" dirty="0"/>
            </a:br>
            <a:endParaRPr sz="4000" dirty="0"/>
          </a:p>
        </p:txBody>
      </p:sp>
      <p:sp>
        <p:nvSpPr>
          <p:cNvPr id="205" name="Google Shape;205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 dirty="0"/>
              <a:t>Global Factors</a:t>
            </a:r>
            <a:r>
              <a:rPr lang="en-US" sz="2400" dirty="0"/>
              <a:t>: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Technological advancements (AI, IoT, big data).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Economic incentives: Data as a commodity.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International cooperation challenges.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 dirty="0"/>
              <a:t>Pakistan</a:t>
            </a:r>
            <a:r>
              <a:rPr lang="en-US" sz="2400" dirty="0"/>
              <a:t>: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Criticism of rushed data laws and weak enforcement.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Data localization requirements under PDPB 2023.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dirty="0"/>
              <a:t>Public demand for privacy amid surveillance concerns.</a:t>
            </a:r>
            <a:endParaRPr sz="240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  <p:sp>
        <p:nvSpPr>
          <p:cNvPr id="206" name="Google Shape;206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1095451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 dirty="0"/>
            </a:br>
            <a:r>
              <a:rPr lang="en-US" b="1" dirty="0"/>
              <a:t>Convergence of Data Protection Practices</a:t>
            </a:r>
            <a:br>
              <a:rPr lang="en-US" b="1" dirty="0"/>
            </a:br>
            <a:endParaRPr dirty="0"/>
          </a:p>
        </p:txBody>
      </p:sp>
      <p:sp>
        <p:nvSpPr>
          <p:cNvPr id="212" name="Google Shape;212;p25"/>
          <p:cNvSpPr txBox="1">
            <a:spLocks noGrp="1"/>
          </p:cNvSpPr>
          <p:nvPr>
            <p:ph idx="1"/>
          </p:nvPr>
        </p:nvSpPr>
        <p:spPr>
          <a:xfrm>
            <a:off x="1024128" y="2286000"/>
            <a:ext cx="10786872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dirty="0"/>
              <a:t>Convergence of Data Protection Practices means that different countries, organizations, and industries are starting to follow similar rules and standards to protect personal information and privacy.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dirty="0"/>
              <a:t>Benefits: Consistent compliance, enhanced user trust.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 dirty="0"/>
              <a:t>Pakistan</a:t>
            </a:r>
            <a:r>
              <a:rPr lang="en-US" sz="2400" dirty="0"/>
              <a:t>: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b="1" dirty="0"/>
              <a:t>NCPDP</a:t>
            </a:r>
            <a:r>
              <a:rPr lang="en-US" sz="2400" dirty="0"/>
              <a:t> (PDPB 2023): Aims to align with global standards.</a:t>
            </a:r>
            <a:endParaRPr sz="24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400" b="1" dirty="0"/>
              <a:t>NCCIA (2024)</a:t>
            </a:r>
            <a:r>
              <a:rPr lang="en-US" sz="2400" dirty="0"/>
              <a:t> and </a:t>
            </a:r>
            <a:r>
              <a:rPr lang="en-US" sz="2400" b="1" dirty="0"/>
              <a:t>PKCERT (2024)</a:t>
            </a:r>
            <a:r>
              <a:rPr lang="en-US" sz="2400" dirty="0"/>
              <a:t>: Strengthen cybersecurity.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400" b="1" dirty="0"/>
              <a:t>Challenges</a:t>
            </a:r>
            <a:r>
              <a:rPr lang="en-US" sz="2400" dirty="0"/>
              <a:t>: Balancing local laws with global frameworks.</a:t>
            </a:r>
            <a:endParaRPr sz="240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  <p:sp>
        <p:nvSpPr>
          <p:cNvPr id="213" name="Google Shape;213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FDAA-3D4D-46B6-BF40-DA7CFEE7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P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A496A0-041B-48E9-B88B-C5D190472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886776"/>
              </p:ext>
            </p:extLst>
          </p:nvPr>
        </p:nvGraphicFramePr>
        <p:xfrm>
          <a:off x="1235869" y="2605722"/>
          <a:ext cx="9720262" cy="24688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71056857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051082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Common Principle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15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Consent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must allow their data to be collected.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782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Transparency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Organizations must tell users how their data is used.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906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Right to Access &amp; Delete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Users can see or delete their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330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Security Measures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must be protected from breaches.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25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Accountability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Organizations are responsible for misuse.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6829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B0AD-1C4C-4979-877A-02D0F4A7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6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/>
            </a:br>
            <a:r>
              <a:rPr lang="en-US" b="1"/>
              <a:t>Formulation of Fair Use Guidelines</a:t>
            </a:r>
            <a:br>
              <a:rPr lang="en-US" b="1"/>
            </a:b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Purpose</a:t>
            </a:r>
            <a:r>
              <a:rPr lang="en-US" sz="2000" dirty="0"/>
              <a:t>: Balance data use with creator and user rights.</a:t>
            </a:r>
            <a:endParaRPr sz="20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Key Elements</a:t>
            </a:r>
            <a:r>
              <a:rPr lang="en-US" sz="2000" dirty="0"/>
              <a:t>: Transparent consent, limited data use, user rights to access/correct/delete data.</a:t>
            </a:r>
            <a:endParaRPr sz="20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Examples</a:t>
            </a:r>
            <a:r>
              <a:rPr lang="en-US" sz="2000" dirty="0"/>
              <a:t>: Fair use in software, media, and AI analytics.</a:t>
            </a:r>
            <a:endParaRPr sz="20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Pakistan</a:t>
            </a:r>
            <a:r>
              <a:rPr lang="en-US" sz="2000" dirty="0"/>
              <a:t>:</a:t>
            </a:r>
            <a:endParaRPr sz="20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000" b="1" dirty="0"/>
              <a:t>PEMRA</a:t>
            </a:r>
            <a:r>
              <a:rPr lang="en-US" sz="2000" dirty="0"/>
              <a:t>: Regulates media under Articles 19/19A.</a:t>
            </a:r>
            <a:endParaRPr sz="2000"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2000" b="1" dirty="0"/>
              <a:t>PTA</a:t>
            </a:r>
            <a:r>
              <a:rPr lang="en-US" sz="2000" dirty="0"/>
              <a:t>: Blocks content under PECA Section 37.</a:t>
            </a:r>
            <a:endParaRPr sz="200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</p:txBody>
      </p:sp>
      <p:sp>
        <p:nvSpPr>
          <p:cNvPr id="220" name="Google Shape;220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 dirty="0"/>
            </a:br>
            <a:r>
              <a:rPr lang="en-US" b="1" dirty="0"/>
              <a:t>Data Protection in the UK, Europe, and Pakistan</a:t>
            </a:r>
            <a:br>
              <a:rPr lang="en-US" b="1" dirty="0"/>
            </a:br>
            <a:endParaRPr dirty="0"/>
          </a:p>
        </p:txBody>
      </p:sp>
      <p:sp>
        <p:nvSpPr>
          <p:cNvPr id="226" name="Google Shape;226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/>
              <a:t>UK</a:t>
            </a:r>
            <a:r>
              <a:rPr lang="en-US"/>
              <a:t>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/>
              <a:t>Data Protection Act 2018, aligned with GDPR.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/>
              <a:t>Post-Brexit: UK GDPR for data handling.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/>
              <a:t>Europe</a:t>
            </a:r>
            <a:r>
              <a:rPr lang="en-US"/>
              <a:t>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/>
              <a:t>GDPR (2018): User rights (e.g., right to be forgotten, data portability).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/>
              <a:t>Enforcement through fines and audits.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/>
              <a:t>Pakistan</a:t>
            </a:r>
            <a:r>
              <a:rPr lang="en-US"/>
              <a:t>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b="1"/>
              <a:t>PECA 2016</a:t>
            </a:r>
            <a:r>
              <a:rPr lang="en-US"/>
              <a:t>: Addresses unauthorized data sharing.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b="1"/>
              <a:t>Draft PDPB 2023</a:t>
            </a:r>
            <a:r>
              <a:rPr lang="en-US"/>
              <a:t>: Emphasizes data localization, contrasts with GDPR’s data transfer focus.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b="1"/>
              <a:t>NCPDP</a:t>
            </a:r>
            <a:r>
              <a:rPr lang="en-US"/>
              <a:t>: Proposed oversight body.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>
            <a:spLocks noGrp="1"/>
          </p:cNvSpPr>
          <p:nvPr>
            <p:ph type="title"/>
          </p:nvPr>
        </p:nvSpPr>
        <p:spPr>
          <a:xfrm>
            <a:off x="436035" y="1110875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ct val="100000"/>
              <a:buFont typeface="Calibri"/>
              <a:buNone/>
            </a:pPr>
            <a:r>
              <a: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Pakistan’s Data Privacy Laws</a:t>
            </a:r>
            <a:endParaRPr sz="2800" b="1" dirty="0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endParaRPr b="1" dirty="0">
              <a:solidFill>
                <a:schemeClr val="tx1"/>
              </a:solidFill>
            </a:endParaRPr>
          </a:p>
        </p:txBody>
      </p:sp>
      <p:sp>
        <p:nvSpPr>
          <p:cNvPr id="247" name="Google Shape;247;p30"/>
          <p:cNvSpPr txBox="1">
            <a:spLocks noGrp="1"/>
          </p:cNvSpPr>
          <p:nvPr>
            <p:ph idx="1"/>
          </p:nvPr>
        </p:nvSpPr>
        <p:spPr>
          <a:xfrm>
            <a:off x="1346865" y="2391875"/>
            <a:ext cx="10409100" cy="231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ts val="2600"/>
              <a:buFont typeface="Calibri"/>
              <a:buChar char="•"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PECA 2016: Cybercrimes and data misuse.</a:t>
            </a:r>
            <a:endParaRPr sz="7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937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1394D"/>
              </a:buClr>
              <a:buSzPts val="2600"/>
              <a:buFont typeface="Calibri"/>
              <a:buChar char="•"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PDPB 2023: Localization, oversight by NCPDP.</a:t>
            </a:r>
            <a:endParaRPr sz="7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937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1394D"/>
              </a:buClr>
              <a:buSzPts val="2600"/>
              <a:buFont typeface="Calibri"/>
              <a:buChar char="•"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Penalties: Fines or imprisonment.</a:t>
            </a:r>
            <a:endParaRPr sz="7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9370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rgbClr val="31394D"/>
              </a:buClr>
              <a:buSzPts val="2600"/>
              <a:buFont typeface="Calibri"/>
              <a:buChar char="•"/>
            </a:pPr>
            <a:r>
              <a:rPr lang="en-US" sz="2600" dirty="0">
                <a:latin typeface="Calibri"/>
                <a:ea typeface="Calibri"/>
                <a:cs typeface="Calibri"/>
                <a:sym typeface="Calibri"/>
              </a:rPr>
              <a:t>Example: E-commerce platform exposes customer data.</a:t>
            </a:r>
            <a:endParaRPr sz="120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</a:rPr>
              <a:t>13</a:t>
            </a:fld>
            <a:endParaRPr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>
            <a:spLocks noGrp="1"/>
          </p:cNvSpPr>
          <p:nvPr>
            <p:ph type="title"/>
          </p:nvPr>
        </p:nvSpPr>
        <p:spPr>
          <a:xfrm>
            <a:off x="1024128" y="585216"/>
            <a:ext cx="11030712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 dirty="0"/>
            </a:br>
            <a:r>
              <a:rPr lang="en-US" b="1" dirty="0"/>
              <a:t>Defamation and Protection of Reputation</a:t>
            </a:r>
            <a:br>
              <a:rPr lang="en-US" b="1" dirty="0"/>
            </a:br>
            <a:endParaRPr dirty="0"/>
          </a:p>
        </p:txBody>
      </p:sp>
      <p:sp>
        <p:nvSpPr>
          <p:cNvPr id="254" name="Google Shape;254;p31"/>
          <p:cNvSpPr txBox="1">
            <a:spLocks noGrp="1"/>
          </p:cNvSpPr>
          <p:nvPr>
            <p:ph idx="1"/>
          </p:nvPr>
        </p:nvSpPr>
        <p:spPr>
          <a:xfrm>
            <a:off x="612648" y="2691384"/>
            <a:ext cx="11442192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Definition</a:t>
            </a:r>
            <a:r>
              <a:rPr lang="en-US" sz="2000" dirty="0"/>
              <a:t>: False statements harming reputation (libel/slander).</a:t>
            </a:r>
            <a:endParaRPr sz="20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Digital Challenges</a:t>
            </a:r>
            <a:r>
              <a:rPr lang="en-US" sz="2000" dirty="0"/>
              <a:t>: Social media amplifies risks; anonymity complicates accountability.</a:t>
            </a:r>
            <a:endParaRPr sz="20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b="1" dirty="0"/>
              <a:t>Legal Protections in Pakistan</a:t>
            </a:r>
            <a:r>
              <a:rPr lang="en-US" sz="2000" dirty="0"/>
              <a:t>:</a:t>
            </a:r>
            <a:endParaRPr sz="2000"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 b="1" dirty="0"/>
              <a:t>Defamation Ordinance 2002</a:t>
            </a:r>
            <a:r>
              <a:rPr lang="en-US" sz="2000" dirty="0"/>
              <a:t>, </a:t>
            </a:r>
            <a:r>
              <a:rPr lang="en-US" sz="2000" b="1" dirty="0"/>
              <a:t>PPC Sections 499–502</a:t>
            </a:r>
            <a:r>
              <a:rPr lang="en-US" sz="2000" dirty="0"/>
              <a:t>: Criminal penalties.</a:t>
            </a:r>
            <a:endParaRPr sz="2000"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 b="1" dirty="0"/>
              <a:t>Punjab Defamation Act 2024</a:t>
            </a:r>
            <a:r>
              <a:rPr lang="en-US" sz="2000" dirty="0"/>
              <a:t>: Fast-track tribunals, fines up to PKR 3 million.</a:t>
            </a:r>
            <a:endParaRPr sz="2000" dirty="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 b="1" dirty="0"/>
              <a:t>Case Study</a:t>
            </a:r>
            <a:r>
              <a:rPr lang="en-US" sz="2000" dirty="0"/>
              <a:t>: Meesha </a:t>
            </a:r>
            <a:r>
              <a:rPr lang="en-US" sz="2000" dirty="0" err="1"/>
              <a:t>Shafi</a:t>
            </a:r>
            <a:r>
              <a:rPr lang="en-US" sz="2000" dirty="0"/>
              <a:t> vs. Ali Zafar (#MeToo) highlights defamation’s impact on free expression.</a:t>
            </a:r>
            <a:endParaRPr sz="200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</p:txBody>
      </p:sp>
      <p:sp>
        <p:nvSpPr>
          <p:cNvPr id="255" name="Google Shape;255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/>
            </a:br>
            <a:r>
              <a:rPr lang="en-US" b="1"/>
              <a:t>Concluding Remarks</a:t>
            </a:r>
            <a:br>
              <a:rPr lang="en-US" b="1"/>
            </a:b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Data protection is critical for digital trust and ethical software engineering.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Balanced regulations protect privacy while enabling innovation.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Defamation laws safeguard reputation but must respect free speech.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/>
              <a:t>Pakistan</a:t>
            </a:r>
            <a:r>
              <a:rPr lang="en-US"/>
              <a:t>: Emerging data protection framework (PDPB 2023, NCPDP) faces surveillance and enforcement challenges.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/>
            </a:br>
            <a:r>
              <a:rPr lang="en-US" b="1"/>
              <a:t>Learning Outcomes</a:t>
            </a:r>
            <a:br>
              <a:rPr lang="en-US" b="1"/>
            </a:br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Understand the importance of regulating personal data globally and in Pakistan.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Analyze the internet’s impact on privacy and security.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Compare data protection frameworks in the UK, Europe, and Pakistan.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Evaluate fair use guidelines and convergence of practices.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Assess defamation laws and their balance with free expression, including Pakistan’s context.</a:t>
            </a:r>
            <a:endParaRPr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br>
              <a:rPr lang="en-US" b="1"/>
            </a:br>
            <a:r>
              <a:rPr lang="en-US" b="1"/>
              <a:t>Activity: Case Study Discussion</a:t>
            </a:r>
            <a:br>
              <a:rPr lang="en-US" b="1"/>
            </a:br>
            <a:endParaRPr/>
          </a:p>
        </p:txBody>
      </p:sp>
      <p:sp>
        <p:nvSpPr>
          <p:cNvPr id="275" name="Google Shape;275;p34"/>
          <p:cNvSpPr txBox="1">
            <a:spLocks noGrp="1"/>
          </p:cNvSpPr>
          <p:nvPr>
            <p:ph idx="1"/>
          </p:nvPr>
        </p:nvSpPr>
        <p:spPr>
          <a:xfrm>
            <a:off x="1024128" y="2286000"/>
            <a:ext cx="10786872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Scenario: </a:t>
            </a:r>
            <a:r>
              <a:rPr lang="en-US" sz="1800" b="1" dirty="0" err="1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App Data Leak</a:t>
            </a:r>
            <a:endParaRPr lang="en-PK" sz="18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is a popular mobile health-tracking app used in Pakistan. It allows users to: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Record blood sugar levels and daily steps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Save their age, weight, and medical reports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Connect with nearby clinics for health advice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recently, some users complained that they started receiving ads for diabetes medicines and weight loss products on social media — even though they never shared that information outside the app.</a:t>
            </a: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local tech news report later claimed that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shared user data with marketing companies without asking for consent.</a:t>
            </a:r>
            <a:endParaRPr lang="en-PK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237172" algn="l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lang="en-US" sz="1800" dirty="0"/>
          </a:p>
        </p:txBody>
      </p:sp>
      <p:sp>
        <p:nvSpPr>
          <p:cNvPr id="276" name="Google Shape;276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C95C-02E0-40FE-AAC0-050DDFC2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Your Task as a Student: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54FE-18E9-48EF-A482-4595F7134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Identify which privacy principles or regulations </a:t>
            </a:r>
            <a:r>
              <a:rPr lang="en-US" sz="24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may have violated.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Suggest three ways </a:t>
            </a:r>
            <a:r>
              <a:rPr lang="en-US" sz="24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could control and protect users’ personal information better.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Explain whether this case violates the Pakistan Personal Data Protection Bill (2021 Draft) and how.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In your opinion, what penalty or corrective action should be taken against </a:t>
            </a:r>
            <a:r>
              <a:rPr lang="en-US" sz="24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HealthPlus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n-PK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3C501-502A-4DA7-8798-F8D656F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16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</TotalTime>
  <Words>1168</Words>
  <Application>Microsoft Office PowerPoint</Application>
  <PresentationFormat>Widescreen</PresentationFormat>
  <Paragraphs>150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Merriweather</vt:lpstr>
      <vt:lpstr>Roboto</vt:lpstr>
      <vt:lpstr>Times New Roman</vt:lpstr>
      <vt:lpstr>Arial</vt:lpstr>
      <vt:lpstr>Aharoni</vt:lpstr>
      <vt:lpstr>Tw Cen MT</vt:lpstr>
      <vt:lpstr>Century Gothic</vt:lpstr>
      <vt:lpstr>Calibri</vt:lpstr>
      <vt:lpstr>Wingdings 3</vt:lpstr>
      <vt:lpstr>Tw Cen MT Condensed</vt:lpstr>
      <vt:lpstr>Bodoni MT Black</vt:lpstr>
      <vt:lpstr>Cambria</vt:lpstr>
      <vt:lpstr>Integral</vt:lpstr>
      <vt:lpstr> Professional Practices Week 7 :  Regulation and Control of Personal  Information </vt:lpstr>
      <vt:lpstr>This week</vt:lpstr>
      <vt:lpstr> Agenda and Objectives </vt:lpstr>
      <vt:lpstr>Regulation and control of personal Information </vt:lpstr>
      <vt:lpstr>Example</vt:lpstr>
      <vt:lpstr>Why Regulation is Important?</vt:lpstr>
      <vt:lpstr>Data Protection &amp; Privacy</vt:lpstr>
      <vt:lpstr> Factors Influencing Regulation of Data Processing </vt:lpstr>
      <vt:lpstr> Convergence of Data Protection Practices </vt:lpstr>
      <vt:lpstr>Key features </vt:lpstr>
      <vt:lpstr> Formulation of Fair Use Guidelines </vt:lpstr>
      <vt:lpstr> Data Protection in the UK, Europe, and Pakistan </vt:lpstr>
      <vt:lpstr>Pakistan’s Data Privacy Laws </vt:lpstr>
      <vt:lpstr> Defamation and Protection of Reputation </vt:lpstr>
      <vt:lpstr> Concluding Remarks </vt:lpstr>
      <vt:lpstr> Learning Outcomes </vt:lpstr>
      <vt:lpstr> Activity: Case Study Discussion </vt:lpstr>
      <vt:lpstr>Your Task as a Student: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Professional Practices Week 7 :  Regulation and Control of Personal  Information </dc:title>
  <cp:lastModifiedBy>Maham Noor</cp:lastModifiedBy>
  <cp:revision>4</cp:revision>
  <dcterms:modified xsi:type="dcterms:W3CDTF">2025-11-12T06:51:03Z</dcterms:modified>
</cp:coreProperties>
</file>